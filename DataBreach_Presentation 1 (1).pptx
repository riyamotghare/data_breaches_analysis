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4" r:id="rId4"/>
    <p:sldId id="258" r:id="rId5"/>
    <p:sldId id="259" r:id="rId6"/>
    <p:sldId id="260" r:id="rId7"/>
    <p:sldId id="263" r:id="rId8"/>
    <p:sldId id="261" r:id="rId9"/>
    <p:sldId id="262"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D604D4-3BBC-4456-90C6-574FE5B8B7A1}" v="7" dt="2026-06-08T13:40:51.1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p:scale>
          <a:sx n="100" d="100"/>
          <a:sy n="100" d="100"/>
        </p:scale>
        <p:origin x="97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17" Type="http://schemas.microsoft.com/office/2015/10/relationships/revisionInfo" Target="revisionInfo.xml" /><Relationship Id="rId2" Type="http://schemas.openxmlformats.org/officeDocument/2006/relationships/slide" Target="slides/slide1.xml" /><Relationship Id="rId16" Type="http://schemas.microsoft.com/office/2016/11/relationships/changesInfo" Target="changesInfos/changesInfo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ya Motghare" userId="b98443a8a1590116" providerId="LiveId" clId="{E2FA0A89-ABCA-471C-8E1C-C26D93F2A18C}"/>
    <pc:docChg chg="undo custSel modSld">
      <pc:chgData name="Riya Motghare" userId="b98443a8a1590116" providerId="LiveId" clId="{E2FA0A89-ABCA-471C-8E1C-C26D93F2A18C}" dt="2026-06-08T13:40:51.174" v="13" actId="14100"/>
      <pc:docMkLst>
        <pc:docMk/>
      </pc:docMkLst>
      <pc:sldChg chg="addSp modSp mod">
        <pc:chgData name="Riya Motghare" userId="b98443a8a1590116" providerId="LiveId" clId="{E2FA0A89-ABCA-471C-8E1C-C26D93F2A18C}" dt="2026-06-08T13:40:51.174" v="13" actId="14100"/>
        <pc:sldMkLst>
          <pc:docMk/>
          <pc:sldMk cId="0" sldId="260"/>
        </pc:sldMkLst>
        <pc:spChg chg="mod">
          <ac:chgData name="Riya Motghare" userId="b98443a8a1590116" providerId="LiveId" clId="{E2FA0A89-ABCA-471C-8E1C-C26D93F2A18C}" dt="2026-06-08T13:38:45.509" v="0" actId="20577"/>
          <ac:spMkLst>
            <pc:docMk/>
            <pc:sldMk cId="0" sldId="260"/>
            <ac:spMk id="4" creationId="{00000000-0000-0000-0000-000000000000}"/>
          </ac:spMkLst>
        </pc:spChg>
        <pc:spChg chg="mod">
          <ac:chgData name="Riya Motghare" userId="b98443a8a1590116" providerId="LiveId" clId="{E2FA0A89-ABCA-471C-8E1C-C26D93F2A18C}" dt="2026-06-08T13:39:10.794" v="4" actId="1076"/>
          <ac:spMkLst>
            <pc:docMk/>
            <pc:sldMk cId="0" sldId="260"/>
            <ac:spMk id="10" creationId="{00000000-0000-0000-0000-000000000000}"/>
          </ac:spMkLst>
        </pc:spChg>
        <pc:spChg chg="mod">
          <ac:chgData name="Riya Motghare" userId="b98443a8a1590116" providerId="LiveId" clId="{E2FA0A89-ABCA-471C-8E1C-C26D93F2A18C}" dt="2026-06-08T13:39:34.558" v="6" actId="1076"/>
          <ac:spMkLst>
            <pc:docMk/>
            <pc:sldMk cId="0" sldId="260"/>
            <ac:spMk id="13" creationId="{00000000-0000-0000-0000-000000000000}"/>
          </ac:spMkLst>
        </pc:spChg>
        <pc:spChg chg="mod">
          <ac:chgData name="Riya Motghare" userId="b98443a8a1590116" providerId="LiveId" clId="{E2FA0A89-ABCA-471C-8E1C-C26D93F2A18C}" dt="2026-06-08T13:39:24.331" v="5" actId="1076"/>
          <ac:spMkLst>
            <pc:docMk/>
            <pc:sldMk cId="0" sldId="260"/>
            <ac:spMk id="14" creationId="{00000000-0000-0000-0000-000000000000}"/>
          </ac:spMkLst>
        </pc:spChg>
        <pc:picChg chg="add mod">
          <ac:chgData name="Riya Motghare" userId="b98443a8a1590116" providerId="LiveId" clId="{E2FA0A89-ABCA-471C-8E1C-C26D93F2A18C}" dt="2026-06-08T13:40:20.034" v="9" actId="1076"/>
          <ac:picMkLst>
            <pc:docMk/>
            <pc:sldMk cId="0" sldId="260"/>
            <ac:picMk id="2050" creationId="{C4B91A3C-F9B5-FDB7-9AB4-95C70AF04CC1}"/>
          </ac:picMkLst>
        </pc:picChg>
        <pc:picChg chg="add mod">
          <ac:chgData name="Riya Motghare" userId="b98443a8a1590116" providerId="LiveId" clId="{E2FA0A89-ABCA-471C-8E1C-C26D93F2A18C}" dt="2026-06-08T13:40:51.174" v="13" actId="14100"/>
          <ac:picMkLst>
            <pc:docMk/>
            <pc:sldMk cId="0" sldId="260"/>
            <ac:picMk id="2052" creationId="{33E0C964-9A6F-D22E-75B5-E9ED7C87A501}"/>
          </ac:picMkLst>
        </pc:picChg>
      </pc:sldChg>
    </pc:docChg>
  </pc:docChgLst>
  <pc:docChgLst>
    <pc:chgData name="Riya Motghare" userId="b98443a8a1590116" providerId="LiveId" clId="{B094E16F-EF53-3B4F-98CD-B73A25A47115}"/>
    <pc:docChg chg="undo custSel addSld modSld">
      <pc:chgData name="Riya Motghare" userId="b98443a8a1590116" providerId="LiveId" clId="{B094E16F-EF53-3B4F-98CD-B73A25A47115}" dt="2026-06-09T12:13:05.098" v="43" actId="22"/>
      <pc:docMkLst>
        <pc:docMk/>
      </pc:docMkLst>
      <pc:sldChg chg="addSp delSp modSp mod chgLayout">
        <pc:chgData name="Riya Motghare" userId="b98443a8a1590116" providerId="LiveId" clId="{B094E16F-EF53-3B4F-98CD-B73A25A47115}" dt="2026-06-09T12:07:05.694" v="4" actId="1076"/>
        <pc:sldMkLst>
          <pc:docMk/>
          <pc:sldMk cId="0" sldId="257"/>
        </pc:sldMkLst>
        <pc:spChg chg="mod">
          <ac:chgData name="Riya Motghare" userId="b98443a8a1590116" providerId="LiveId" clId="{B094E16F-EF53-3B4F-98CD-B73A25A47115}" dt="2026-06-09T12:07:05.694" v="4" actId="1076"/>
          <ac:spMkLst>
            <pc:docMk/>
            <pc:sldMk cId="0" sldId="257"/>
            <ac:spMk id="2" creationId="{00000000-0000-0000-0000-000000000000}"/>
          </ac:spMkLst>
        </pc:spChg>
        <pc:graphicFrameChg chg="add del">
          <ac:chgData name="Riya Motghare" userId="b98443a8a1590116" providerId="LiveId" clId="{B094E16F-EF53-3B4F-98CD-B73A25A47115}" dt="2026-06-09T12:06:54.819" v="2" actId="3680"/>
          <ac:graphicFrameMkLst>
            <pc:docMk/>
            <pc:sldMk cId="0" sldId="257"/>
            <ac:graphicFrameMk id="35" creationId="{28F9974D-669E-D4BE-7D00-0B62ED2C930C}"/>
          </ac:graphicFrameMkLst>
        </pc:graphicFrameChg>
      </pc:sldChg>
      <pc:sldChg chg="addSp delSp modSp new mod">
        <pc:chgData name="Riya Motghare" userId="b98443a8a1590116" providerId="LiveId" clId="{B094E16F-EF53-3B4F-98CD-B73A25A47115}" dt="2026-06-09T12:13:05.098" v="43" actId="22"/>
        <pc:sldMkLst>
          <pc:docMk/>
          <pc:sldMk cId="1599998991" sldId="264"/>
        </pc:sldMkLst>
        <pc:spChg chg="add del mod">
          <ac:chgData name="Riya Motghare" userId="b98443a8a1590116" providerId="LiveId" clId="{B094E16F-EF53-3B4F-98CD-B73A25A47115}" dt="2026-06-09T12:13:03.403" v="42" actId="21"/>
          <ac:spMkLst>
            <pc:docMk/>
            <pc:sldMk cId="1599998991" sldId="264"/>
            <ac:spMk id="2" creationId="{8D608437-5FC8-BBC5-B154-095E36A31062}"/>
          </ac:spMkLst>
        </pc:spChg>
        <pc:spChg chg="add del mod">
          <ac:chgData name="Riya Motghare" userId="b98443a8a1590116" providerId="LiveId" clId="{B094E16F-EF53-3B4F-98CD-B73A25A47115}" dt="2026-06-09T12:13:01.941" v="41" actId="21"/>
          <ac:spMkLst>
            <pc:docMk/>
            <pc:sldMk cId="1599998991" sldId="264"/>
            <ac:spMk id="3" creationId="{FF6F7F57-A720-1620-8FC3-A4FE3FEF3738}"/>
          </ac:spMkLst>
        </pc:spChg>
        <pc:spChg chg="add">
          <ac:chgData name="Riya Motghare" userId="b98443a8a1590116" providerId="LiveId" clId="{B094E16F-EF53-3B4F-98CD-B73A25A47115}" dt="2026-06-09T12:13:05.098" v="43" actId="22"/>
          <ac:spMkLst>
            <pc:docMk/>
            <pc:sldMk cId="1599998991" sldId="264"/>
            <ac:spMk id="5" creationId="{29FBDC2A-48AB-0879-D716-37FE11E79B33}"/>
          </ac:spMkLst>
        </pc:spChg>
        <pc:spChg chg="add del">
          <ac:chgData name="Riya Motghare" userId="b98443a8a1590116" providerId="LiveId" clId="{B094E16F-EF53-3B4F-98CD-B73A25A47115}" dt="2026-06-09T12:08:35.735" v="36" actId="22"/>
          <ac:spMkLst>
            <pc:docMk/>
            <pc:sldMk cId="1599998991" sldId="264"/>
            <ac:spMk id="5" creationId="{7CCFDB21-DF1D-4D09-2281-B722BE0401E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1101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5.xml" /><Relationship Id="rId1" Type="http://schemas.openxmlformats.org/officeDocument/2006/relationships/slideLayout" Target="../slideLayouts/slideLayout1.xml" /><Relationship Id="rId4" Type="http://schemas.openxmlformats.org/officeDocument/2006/relationships/image" Target="../media/image2.png" /></Relationships>
</file>

<file path=ppt/slides/_rels/slide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9396"/>
          </a:solidFill>
          <a:ln w="12700">
            <a:solidFill>
              <a:srgbClr val="0A9396"/>
            </a:solidFill>
            <a:prstDash val="solid"/>
          </a:ln>
        </p:spPr>
      </p:sp>
      <p:sp>
        <p:nvSpPr>
          <p:cNvPr id="3" name="Text 1"/>
          <p:cNvSpPr/>
          <p:nvPr/>
        </p:nvSpPr>
        <p:spPr>
          <a:xfrm>
            <a:off x="365760" y="274320"/>
            <a:ext cx="8412480" cy="365760"/>
          </a:xfrm>
          <a:prstGeom prst="rect">
            <a:avLst/>
          </a:prstGeom>
          <a:noFill/>
          <a:ln/>
        </p:spPr>
        <p:txBody>
          <a:bodyPr wrap="square" rtlCol="0" anchor="ctr"/>
          <a:lstStyle/>
          <a:p>
            <a:pPr marL="0" indent="0">
              <a:buNone/>
            </a:pPr>
            <a:r>
              <a:rPr lang="en-US" sz="1000" b="1" kern="0" spc="300" dirty="0">
                <a:solidFill>
                  <a:srgbClr val="0A9396"/>
                </a:solidFill>
              </a:rPr>
              <a:t>GNCIPL  ·  CYBERSECURITY PROJECT</a:t>
            </a:r>
            <a:endParaRPr lang="en-US" sz="1000" dirty="0"/>
          </a:p>
        </p:txBody>
      </p:sp>
      <p:sp>
        <p:nvSpPr>
          <p:cNvPr id="4" name="Text 2"/>
          <p:cNvSpPr/>
          <p:nvPr/>
        </p:nvSpPr>
        <p:spPr>
          <a:xfrm>
            <a:off x="365760" y="1005840"/>
            <a:ext cx="8412480" cy="914400"/>
          </a:xfrm>
          <a:prstGeom prst="rect">
            <a:avLst/>
          </a:prstGeom>
          <a:noFill/>
          <a:ln/>
        </p:spPr>
        <p:txBody>
          <a:bodyPr wrap="square" rtlCol="0" anchor="ctr"/>
          <a:lstStyle/>
          <a:p>
            <a:pPr marL="0" indent="0">
              <a:buNone/>
            </a:pPr>
            <a:r>
              <a:rPr lang="en-US" sz="4400" b="1" dirty="0">
                <a:solidFill>
                  <a:srgbClr val="FFFFFF"/>
                </a:solidFill>
              </a:rPr>
              <a:t>Data Breach Analysis</a:t>
            </a:r>
            <a:endParaRPr lang="en-US" sz="4400" dirty="0"/>
          </a:p>
        </p:txBody>
      </p:sp>
      <p:sp>
        <p:nvSpPr>
          <p:cNvPr id="5" name="Text 3"/>
          <p:cNvSpPr/>
          <p:nvPr/>
        </p:nvSpPr>
        <p:spPr>
          <a:xfrm>
            <a:off x="365760" y="1828800"/>
            <a:ext cx="8412480" cy="777240"/>
          </a:xfrm>
          <a:prstGeom prst="rect">
            <a:avLst/>
          </a:prstGeom>
          <a:noFill/>
          <a:ln/>
        </p:spPr>
        <p:txBody>
          <a:bodyPr wrap="square" rtlCol="0" anchor="ctr"/>
          <a:lstStyle/>
          <a:p>
            <a:pPr marL="0" indent="0">
              <a:buNone/>
            </a:pPr>
            <a:r>
              <a:rPr lang="en-US" sz="4400" b="1" dirty="0">
                <a:solidFill>
                  <a:srgbClr val="0A9396"/>
                </a:solidFill>
              </a:rPr>
              <a:t>by Industry</a:t>
            </a:r>
            <a:endParaRPr lang="en-US" sz="4400" dirty="0"/>
          </a:p>
        </p:txBody>
      </p:sp>
      <p:sp>
        <p:nvSpPr>
          <p:cNvPr id="6" name="Shape 4"/>
          <p:cNvSpPr/>
          <p:nvPr/>
        </p:nvSpPr>
        <p:spPr>
          <a:xfrm>
            <a:off x="365760" y="2743200"/>
            <a:ext cx="4114800" cy="36576"/>
          </a:xfrm>
          <a:prstGeom prst="rect">
            <a:avLst/>
          </a:prstGeom>
          <a:solidFill>
            <a:srgbClr val="0A9396"/>
          </a:solidFill>
          <a:ln w="12700">
            <a:solidFill>
              <a:srgbClr val="0A9396"/>
            </a:solidFill>
            <a:prstDash val="solid"/>
          </a:ln>
        </p:spPr>
      </p:sp>
      <p:sp>
        <p:nvSpPr>
          <p:cNvPr id="7" name="Text 5"/>
          <p:cNvSpPr/>
          <p:nvPr/>
        </p:nvSpPr>
        <p:spPr>
          <a:xfrm>
            <a:off x="365760" y="2926080"/>
            <a:ext cx="8412480" cy="320040"/>
          </a:xfrm>
          <a:prstGeom prst="rect">
            <a:avLst/>
          </a:prstGeom>
          <a:noFill/>
          <a:ln/>
        </p:spPr>
        <p:txBody>
          <a:bodyPr wrap="square" rtlCol="0" anchor="ctr"/>
          <a:lstStyle/>
          <a:p>
            <a:pPr marL="0" indent="0">
              <a:buNone/>
            </a:pPr>
            <a:r>
              <a:rPr lang="en-US" sz="1200" dirty="0">
                <a:solidFill>
                  <a:srgbClr val="CAF0F8"/>
                </a:solidFill>
              </a:rPr>
              <a:t>Domain: Cybersecurity   |   Tools: Python · Pandas · NumPy · Matplotlib</a:t>
            </a:r>
            <a:endParaRPr lang="en-US" sz="1200" dirty="0"/>
          </a:p>
        </p:txBody>
      </p:sp>
      <p:sp>
        <p:nvSpPr>
          <p:cNvPr id="8" name="Text 6"/>
          <p:cNvSpPr/>
          <p:nvPr/>
        </p:nvSpPr>
        <p:spPr>
          <a:xfrm>
            <a:off x="365760" y="3291840"/>
            <a:ext cx="8412480" cy="320040"/>
          </a:xfrm>
          <a:prstGeom prst="rect">
            <a:avLst/>
          </a:prstGeom>
          <a:noFill/>
          <a:ln/>
        </p:spPr>
        <p:txBody>
          <a:bodyPr wrap="square" rtlCol="0" anchor="ctr"/>
          <a:lstStyle/>
          <a:p>
            <a:pPr marL="0" indent="0">
              <a:buNone/>
            </a:pPr>
            <a:r>
              <a:rPr lang="en-US" sz="1200" dirty="0">
                <a:solidFill>
                  <a:srgbClr val="CAF0F8"/>
                </a:solidFill>
              </a:rPr>
              <a:t>Dataset: Kaggle — df_1.csv  |  352 records, 6 columns  |  CC0 Public Domain</a:t>
            </a:r>
            <a:endParaRPr lang="en-US" sz="1200" dirty="0"/>
          </a:p>
        </p:txBody>
      </p:sp>
      <p:sp>
        <p:nvSpPr>
          <p:cNvPr id="10" name="Text 6">
            <a:extLst>
              <a:ext uri="{FF2B5EF4-FFF2-40B4-BE49-F238E27FC236}">
                <a16:creationId xmlns:a16="http://schemas.microsoft.com/office/drawing/2014/main" id="{0285FA06-7323-AD3A-9D19-411DC6E2A75B}"/>
              </a:ext>
            </a:extLst>
          </p:cNvPr>
          <p:cNvSpPr/>
          <p:nvPr/>
        </p:nvSpPr>
        <p:spPr>
          <a:xfrm>
            <a:off x="365760" y="3611880"/>
            <a:ext cx="8412480" cy="320040"/>
          </a:xfrm>
          <a:prstGeom prst="rect">
            <a:avLst/>
          </a:prstGeom>
          <a:noFill/>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CAF0F8"/>
                </a:solidFill>
              </a:rPr>
              <a:t>By Riya Motghare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457200" y="219456"/>
            <a:ext cx="8229600" cy="530352"/>
          </a:xfrm>
          <a:prstGeom prst="rect">
            <a:avLst/>
          </a:prstGeom>
          <a:noFill/>
          <a:ln/>
        </p:spPr>
        <p:txBody>
          <a:bodyPr wrap="square" rtlCol="0" anchor="ctr"/>
          <a:lstStyle/>
          <a:p>
            <a:pPr marL="0" indent="0">
              <a:buNone/>
            </a:pPr>
            <a:r>
              <a:rPr lang="en-US" sz="2800" b="1" dirty="0">
                <a:solidFill>
                  <a:srgbClr val="1E293B"/>
                </a:solidFill>
              </a:rPr>
              <a:t>About the Dataset</a:t>
            </a:r>
            <a:endParaRPr lang="en-US" sz="2800" dirty="0"/>
          </a:p>
        </p:txBody>
      </p:sp>
      <p:sp>
        <p:nvSpPr>
          <p:cNvPr id="3" name="Shape 1"/>
          <p:cNvSpPr/>
          <p:nvPr/>
        </p:nvSpPr>
        <p:spPr>
          <a:xfrm>
            <a:off x="457200" y="749808"/>
            <a:ext cx="1097280" cy="45720"/>
          </a:xfrm>
          <a:prstGeom prst="rect">
            <a:avLst/>
          </a:prstGeom>
          <a:solidFill>
            <a:srgbClr val="0A9396"/>
          </a:solidFill>
          <a:ln w="12700">
            <a:solidFill>
              <a:srgbClr val="0A9396"/>
            </a:solidFill>
            <a:prstDash val="solid"/>
          </a:ln>
        </p:spPr>
      </p:sp>
      <p:sp>
        <p:nvSpPr>
          <p:cNvPr id="4" name="Shape 2"/>
          <p:cNvSpPr/>
          <p:nvPr/>
        </p:nvSpPr>
        <p:spPr>
          <a:xfrm>
            <a:off x="457200" y="960120"/>
            <a:ext cx="2560320" cy="1188720"/>
          </a:xfrm>
          <a:prstGeom prst="rect">
            <a:avLst/>
          </a:prstGeom>
          <a:solidFill>
            <a:srgbClr val="0D1B2A"/>
          </a:solidFill>
          <a:ln w="12700">
            <a:solidFill>
              <a:srgbClr val="0D1B2A"/>
            </a:solidFill>
            <a:prstDash val="solid"/>
          </a:ln>
          <a:effectLst>
            <a:outerShdw blurRad="101600" dist="25400" dir="8100000" algn="bl" rotWithShape="0">
              <a:srgbClr val="000000">
                <a:alpha val="12000"/>
              </a:srgbClr>
            </a:outerShdw>
          </a:effectLst>
        </p:spPr>
      </p:sp>
      <p:sp>
        <p:nvSpPr>
          <p:cNvPr id="5" name="Text 3"/>
          <p:cNvSpPr/>
          <p:nvPr/>
        </p:nvSpPr>
        <p:spPr>
          <a:xfrm>
            <a:off x="457200" y="1024128"/>
            <a:ext cx="2560320" cy="566928"/>
          </a:xfrm>
          <a:prstGeom prst="rect">
            <a:avLst/>
          </a:prstGeom>
          <a:noFill/>
          <a:ln/>
        </p:spPr>
        <p:txBody>
          <a:bodyPr wrap="square" rtlCol="0" anchor="ctr"/>
          <a:lstStyle/>
          <a:p>
            <a:pPr marL="0" indent="0" algn="ctr">
              <a:buNone/>
            </a:pPr>
            <a:r>
              <a:rPr lang="en-US" sz="3200" b="1" dirty="0">
                <a:solidFill>
                  <a:srgbClr val="0A9396"/>
                </a:solidFill>
              </a:rPr>
              <a:t>352</a:t>
            </a:r>
            <a:endParaRPr lang="en-US" sz="3200" dirty="0"/>
          </a:p>
        </p:txBody>
      </p:sp>
      <p:sp>
        <p:nvSpPr>
          <p:cNvPr id="6" name="Text 4"/>
          <p:cNvSpPr/>
          <p:nvPr/>
        </p:nvSpPr>
        <p:spPr>
          <a:xfrm>
            <a:off x="457200" y="1591056"/>
            <a:ext cx="2560320" cy="256032"/>
          </a:xfrm>
          <a:prstGeom prst="rect">
            <a:avLst/>
          </a:prstGeom>
          <a:noFill/>
          <a:ln/>
        </p:spPr>
        <p:txBody>
          <a:bodyPr wrap="square" rtlCol="0" anchor="ctr"/>
          <a:lstStyle/>
          <a:p>
            <a:pPr marL="0" indent="0" algn="ctr">
              <a:buNone/>
            </a:pPr>
            <a:r>
              <a:rPr lang="en-US" sz="1100" b="1" dirty="0">
                <a:solidFill>
                  <a:srgbClr val="FFFFFF"/>
                </a:solidFill>
              </a:rPr>
              <a:t>Total Rows</a:t>
            </a:r>
            <a:endParaRPr lang="en-US" sz="1100" dirty="0"/>
          </a:p>
        </p:txBody>
      </p:sp>
      <p:sp>
        <p:nvSpPr>
          <p:cNvPr id="7" name="Text 5"/>
          <p:cNvSpPr/>
          <p:nvPr/>
        </p:nvSpPr>
        <p:spPr>
          <a:xfrm>
            <a:off x="457200" y="1847088"/>
            <a:ext cx="2560320" cy="219456"/>
          </a:xfrm>
          <a:prstGeom prst="rect">
            <a:avLst/>
          </a:prstGeom>
          <a:noFill/>
          <a:ln/>
        </p:spPr>
        <p:txBody>
          <a:bodyPr wrap="square" rtlCol="0" anchor="ctr"/>
          <a:lstStyle/>
          <a:p>
            <a:pPr marL="0" indent="0" algn="ctr">
              <a:buNone/>
            </a:pPr>
            <a:r>
              <a:rPr lang="en-US" sz="900" dirty="0">
                <a:solidFill>
                  <a:srgbClr val="CAF0F8"/>
                </a:solidFill>
              </a:rPr>
              <a:t>before cleaning</a:t>
            </a:r>
            <a:endParaRPr lang="en-US" sz="900" dirty="0"/>
          </a:p>
        </p:txBody>
      </p:sp>
      <p:sp>
        <p:nvSpPr>
          <p:cNvPr id="8" name="Shape 6"/>
          <p:cNvSpPr/>
          <p:nvPr/>
        </p:nvSpPr>
        <p:spPr>
          <a:xfrm>
            <a:off x="3291840" y="960120"/>
            <a:ext cx="2560320" cy="1188720"/>
          </a:xfrm>
          <a:prstGeom prst="rect">
            <a:avLst/>
          </a:prstGeom>
          <a:solidFill>
            <a:srgbClr val="0D1B2A"/>
          </a:solidFill>
          <a:ln w="12700">
            <a:solidFill>
              <a:srgbClr val="0D1B2A"/>
            </a:solidFill>
            <a:prstDash val="solid"/>
          </a:ln>
          <a:effectLst>
            <a:outerShdw blurRad="101600" dist="25400" dir="8100000" algn="bl" rotWithShape="0">
              <a:srgbClr val="000000">
                <a:alpha val="12000"/>
              </a:srgbClr>
            </a:outerShdw>
          </a:effectLst>
        </p:spPr>
      </p:sp>
      <p:sp>
        <p:nvSpPr>
          <p:cNvPr id="9" name="Text 7"/>
          <p:cNvSpPr/>
          <p:nvPr/>
        </p:nvSpPr>
        <p:spPr>
          <a:xfrm>
            <a:off x="3291840" y="1024128"/>
            <a:ext cx="2560320" cy="566928"/>
          </a:xfrm>
          <a:prstGeom prst="rect">
            <a:avLst/>
          </a:prstGeom>
          <a:noFill/>
          <a:ln/>
        </p:spPr>
        <p:txBody>
          <a:bodyPr wrap="square" rtlCol="0" anchor="ctr"/>
          <a:lstStyle/>
          <a:p>
            <a:pPr marL="0" indent="0" algn="ctr">
              <a:buNone/>
            </a:pPr>
            <a:r>
              <a:rPr lang="en-US" sz="3200" b="1" dirty="0">
                <a:solidFill>
                  <a:srgbClr val="0A9396"/>
                </a:solidFill>
              </a:rPr>
              <a:t>304</a:t>
            </a:r>
            <a:endParaRPr lang="en-US" sz="3200" dirty="0"/>
          </a:p>
        </p:txBody>
      </p:sp>
      <p:sp>
        <p:nvSpPr>
          <p:cNvPr id="10" name="Text 8"/>
          <p:cNvSpPr/>
          <p:nvPr/>
        </p:nvSpPr>
        <p:spPr>
          <a:xfrm>
            <a:off x="3291840" y="1591056"/>
            <a:ext cx="2560320" cy="256032"/>
          </a:xfrm>
          <a:prstGeom prst="rect">
            <a:avLst/>
          </a:prstGeom>
          <a:noFill/>
          <a:ln/>
        </p:spPr>
        <p:txBody>
          <a:bodyPr wrap="square" rtlCol="0" anchor="ctr"/>
          <a:lstStyle/>
          <a:p>
            <a:pPr marL="0" indent="0" algn="ctr">
              <a:buNone/>
            </a:pPr>
            <a:r>
              <a:rPr lang="en-US" sz="1100" b="1" dirty="0">
                <a:solidFill>
                  <a:srgbClr val="FFFFFF"/>
                </a:solidFill>
              </a:rPr>
              <a:t>Clean Rows</a:t>
            </a:r>
            <a:endParaRPr lang="en-US" sz="1100" dirty="0"/>
          </a:p>
        </p:txBody>
      </p:sp>
      <p:sp>
        <p:nvSpPr>
          <p:cNvPr id="11" name="Text 9"/>
          <p:cNvSpPr/>
          <p:nvPr/>
        </p:nvSpPr>
        <p:spPr>
          <a:xfrm>
            <a:off x="3291840" y="1847088"/>
            <a:ext cx="2560320" cy="219456"/>
          </a:xfrm>
          <a:prstGeom prst="rect">
            <a:avLst/>
          </a:prstGeom>
          <a:noFill/>
          <a:ln/>
        </p:spPr>
        <p:txBody>
          <a:bodyPr wrap="square" rtlCol="0" anchor="ctr"/>
          <a:lstStyle/>
          <a:p>
            <a:pPr marL="0" indent="0" algn="ctr">
              <a:buNone/>
            </a:pPr>
            <a:r>
              <a:rPr lang="en-US" sz="900" dirty="0">
                <a:solidFill>
                  <a:srgbClr val="CAF0F8"/>
                </a:solidFill>
              </a:rPr>
              <a:t>after wrangling</a:t>
            </a:r>
            <a:endParaRPr lang="en-US" sz="900" dirty="0"/>
          </a:p>
        </p:txBody>
      </p:sp>
      <p:sp>
        <p:nvSpPr>
          <p:cNvPr id="12" name="Shape 10"/>
          <p:cNvSpPr/>
          <p:nvPr/>
        </p:nvSpPr>
        <p:spPr>
          <a:xfrm>
            <a:off x="6126480" y="960120"/>
            <a:ext cx="2560320" cy="1188720"/>
          </a:xfrm>
          <a:prstGeom prst="rect">
            <a:avLst/>
          </a:prstGeom>
          <a:solidFill>
            <a:srgbClr val="0D1B2A"/>
          </a:solidFill>
          <a:ln w="12700">
            <a:solidFill>
              <a:srgbClr val="0D1B2A"/>
            </a:solidFill>
            <a:prstDash val="solid"/>
          </a:ln>
          <a:effectLst>
            <a:outerShdw blurRad="101600" dist="25400" dir="8100000" algn="bl" rotWithShape="0">
              <a:srgbClr val="000000">
                <a:alpha val="12000"/>
              </a:srgbClr>
            </a:outerShdw>
          </a:effectLst>
        </p:spPr>
      </p:sp>
      <p:sp>
        <p:nvSpPr>
          <p:cNvPr id="13" name="Text 11"/>
          <p:cNvSpPr/>
          <p:nvPr/>
        </p:nvSpPr>
        <p:spPr>
          <a:xfrm>
            <a:off x="6126480" y="1024128"/>
            <a:ext cx="2560320" cy="566928"/>
          </a:xfrm>
          <a:prstGeom prst="rect">
            <a:avLst/>
          </a:prstGeom>
          <a:noFill/>
          <a:ln/>
        </p:spPr>
        <p:txBody>
          <a:bodyPr wrap="square" rtlCol="0" anchor="ctr"/>
          <a:lstStyle/>
          <a:p>
            <a:pPr marL="0" indent="0" algn="ctr">
              <a:buNone/>
            </a:pPr>
            <a:r>
              <a:rPr lang="en-US" sz="3200" b="1" dirty="0">
                <a:solidFill>
                  <a:srgbClr val="0A9396"/>
                </a:solidFill>
              </a:rPr>
              <a:t>61</a:t>
            </a:r>
            <a:endParaRPr lang="en-US" sz="3200" dirty="0"/>
          </a:p>
        </p:txBody>
      </p:sp>
      <p:sp>
        <p:nvSpPr>
          <p:cNvPr id="14" name="Text 12"/>
          <p:cNvSpPr/>
          <p:nvPr/>
        </p:nvSpPr>
        <p:spPr>
          <a:xfrm>
            <a:off x="6126480" y="1591056"/>
            <a:ext cx="2560320" cy="256032"/>
          </a:xfrm>
          <a:prstGeom prst="rect">
            <a:avLst/>
          </a:prstGeom>
          <a:noFill/>
          <a:ln/>
        </p:spPr>
        <p:txBody>
          <a:bodyPr wrap="square" rtlCol="0" anchor="ctr"/>
          <a:lstStyle/>
          <a:p>
            <a:pPr marL="0" indent="0" algn="ctr">
              <a:buNone/>
            </a:pPr>
            <a:r>
              <a:rPr lang="en-US" sz="1100" b="1" dirty="0">
                <a:solidFill>
                  <a:srgbClr val="FFFFFF"/>
                </a:solidFill>
              </a:rPr>
              <a:t>Industries</a:t>
            </a:r>
            <a:endParaRPr lang="en-US" sz="1100" dirty="0"/>
          </a:p>
        </p:txBody>
      </p:sp>
      <p:sp>
        <p:nvSpPr>
          <p:cNvPr id="15" name="Text 13"/>
          <p:cNvSpPr/>
          <p:nvPr/>
        </p:nvSpPr>
        <p:spPr>
          <a:xfrm>
            <a:off x="6126480" y="1847088"/>
            <a:ext cx="2560320" cy="219456"/>
          </a:xfrm>
          <a:prstGeom prst="rect">
            <a:avLst/>
          </a:prstGeom>
          <a:noFill/>
          <a:ln/>
        </p:spPr>
        <p:txBody>
          <a:bodyPr wrap="square" rtlCol="0" anchor="ctr"/>
          <a:lstStyle/>
          <a:p>
            <a:pPr marL="0" indent="0" algn="ctr">
              <a:buNone/>
            </a:pPr>
            <a:r>
              <a:rPr lang="en-US" sz="900" dirty="0">
                <a:solidFill>
                  <a:srgbClr val="CAF0F8"/>
                </a:solidFill>
              </a:rPr>
              <a:t>unique sectors</a:t>
            </a:r>
            <a:endParaRPr lang="en-US" sz="900" dirty="0"/>
          </a:p>
        </p:txBody>
      </p:sp>
      <p:sp>
        <p:nvSpPr>
          <p:cNvPr id="16" name="Text 14"/>
          <p:cNvSpPr/>
          <p:nvPr/>
        </p:nvSpPr>
        <p:spPr>
          <a:xfrm>
            <a:off x="457200" y="2331720"/>
            <a:ext cx="8229600" cy="347472"/>
          </a:xfrm>
          <a:prstGeom prst="rect">
            <a:avLst/>
          </a:prstGeom>
          <a:noFill/>
          <a:ln/>
        </p:spPr>
        <p:txBody>
          <a:bodyPr wrap="square" rtlCol="0" anchor="ctr"/>
          <a:lstStyle/>
          <a:p>
            <a:pPr marL="0" indent="0">
              <a:buNone/>
            </a:pPr>
            <a:r>
              <a:rPr lang="en-US" sz="1300" b="1" dirty="0">
                <a:solidFill>
                  <a:srgbClr val="1E293B"/>
                </a:solidFill>
              </a:rPr>
              <a:t>Dataset Columns  (df_1.csv)</a:t>
            </a:r>
            <a:endParaRPr lang="en-US" sz="1300" dirty="0"/>
          </a:p>
        </p:txBody>
      </p:sp>
      <p:sp>
        <p:nvSpPr>
          <p:cNvPr id="17" name="Shape 15"/>
          <p:cNvSpPr/>
          <p:nvPr/>
        </p:nvSpPr>
        <p:spPr>
          <a:xfrm>
            <a:off x="457200" y="2761488"/>
            <a:ext cx="2606040" cy="502920"/>
          </a:xfrm>
          <a:prstGeom prst="rect">
            <a:avLst/>
          </a:prstGeom>
          <a:solidFill>
            <a:srgbClr val="E8F4F8"/>
          </a:solidFill>
          <a:ln w="12700">
            <a:solidFill>
              <a:srgbClr val="C8DDE8"/>
            </a:solidFill>
            <a:prstDash val="solid"/>
          </a:ln>
        </p:spPr>
      </p:sp>
      <p:sp>
        <p:nvSpPr>
          <p:cNvPr id="18" name="Text 16"/>
          <p:cNvSpPr/>
          <p:nvPr/>
        </p:nvSpPr>
        <p:spPr>
          <a:xfrm>
            <a:off x="548640" y="2798064"/>
            <a:ext cx="2423160" cy="219456"/>
          </a:xfrm>
          <a:prstGeom prst="rect">
            <a:avLst/>
          </a:prstGeom>
          <a:noFill/>
          <a:ln/>
        </p:spPr>
        <p:txBody>
          <a:bodyPr wrap="square" rtlCol="0" anchor="ctr"/>
          <a:lstStyle/>
          <a:p>
            <a:pPr marL="0" indent="0">
              <a:buNone/>
            </a:pPr>
            <a:r>
              <a:rPr lang="en-US" sz="1100" b="1" dirty="0">
                <a:solidFill>
                  <a:srgbClr val="0A9396"/>
                </a:solidFill>
              </a:rPr>
              <a:t>Unnamed: 0</a:t>
            </a:r>
            <a:endParaRPr lang="en-US" sz="1100" dirty="0"/>
          </a:p>
        </p:txBody>
      </p:sp>
      <p:sp>
        <p:nvSpPr>
          <p:cNvPr id="19" name="Text 17"/>
          <p:cNvSpPr/>
          <p:nvPr/>
        </p:nvSpPr>
        <p:spPr>
          <a:xfrm>
            <a:off x="548640" y="3017520"/>
            <a:ext cx="2423160" cy="201168"/>
          </a:xfrm>
          <a:prstGeom prst="rect">
            <a:avLst/>
          </a:prstGeom>
          <a:noFill/>
          <a:ln/>
        </p:spPr>
        <p:txBody>
          <a:bodyPr wrap="square" rtlCol="0" anchor="ctr"/>
          <a:lstStyle/>
          <a:p>
            <a:pPr marL="0" indent="0">
              <a:buNone/>
            </a:pPr>
            <a:r>
              <a:rPr lang="en-US" sz="950" dirty="0">
                <a:solidFill>
                  <a:srgbClr val="64748B"/>
                </a:solidFill>
              </a:rPr>
              <a:t>Row index</a:t>
            </a:r>
            <a:endParaRPr lang="en-US" sz="950" dirty="0"/>
          </a:p>
        </p:txBody>
      </p:sp>
      <p:sp>
        <p:nvSpPr>
          <p:cNvPr id="20" name="Shape 18"/>
          <p:cNvSpPr/>
          <p:nvPr/>
        </p:nvSpPr>
        <p:spPr>
          <a:xfrm>
            <a:off x="3291840" y="2761488"/>
            <a:ext cx="2606040" cy="502920"/>
          </a:xfrm>
          <a:prstGeom prst="rect">
            <a:avLst/>
          </a:prstGeom>
          <a:solidFill>
            <a:srgbClr val="E8F4F8"/>
          </a:solidFill>
          <a:ln w="12700">
            <a:solidFill>
              <a:srgbClr val="C8DDE8"/>
            </a:solidFill>
            <a:prstDash val="solid"/>
          </a:ln>
        </p:spPr>
      </p:sp>
      <p:sp>
        <p:nvSpPr>
          <p:cNvPr id="21" name="Text 19"/>
          <p:cNvSpPr/>
          <p:nvPr/>
        </p:nvSpPr>
        <p:spPr>
          <a:xfrm>
            <a:off x="3383280" y="2798064"/>
            <a:ext cx="2423160" cy="219456"/>
          </a:xfrm>
          <a:prstGeom prst="rect">
            <a:avLst/>
          </a:prstGeom>
          <a:noFill/>
          <a:ln/>
        </p:spPr>
        <p:txBody>
          <a:bodyPr wrap="square" rtlCol="0" anchor="ctr"/>
          <a:lstStyle/>
          <a:p>
            <a:pPr marL="0" indent="0">
              <a:buNone/>
            </a:pPr>
            <a:r>
              <a:rPr lang="en-US" sz="1100" b="1" dirty="0">
                <a:solidFill>
                  <a:srgbClr val="0A9396"/>
                </a:solidFill>
              </a:rPr>
              <a:t>Entity</a:t>
            </a:r>
            <a:endParaRPr lang="en-US" sz="1100" dirty="0"/>
          </a:p>
        </p:txBody>
      </p:sp>
      <p:sp>
        <p:nvSpPr>
          <p:cNvPr id="22" name="Text 20"/>
          <p:cNvSpPr/>
          <p:nvPr/>
        </p:nvSpPr>
        <p:spPr>
          <a:xfrm>
            <a:off x="3383280" y="3017520"/>
            <a:ext cx="2423160" cy="201168"/>
          </a:xfrm>
          <a:prstGeom prst="rect">
            <a:avLst/>
          </a:prstGeom>
          <a:noFill/>
          <a:ln/>
        </p:spPr>
        <p:txBody>
          <a:bodyPr wrap="square" rtlCol="0" anchor="ctr"/>
          <a:lstStyle/>
          <a:p>
            <a:pPr marL="0" indent="0">
              <a:buNone/>
            </a:pPr>
            <a:r>
              <a:rPr lang="en-US" sz="950" dirty="0">
                <a:solidFill>
                  <a:srgbClr val="64748B"/>
                </a:solidFill>
              </a:rPr>
              <a:t>Name of breached organization</a:t>
            </a:r>
            <a:endParaRPr lang="en-US" sz="950" dirty="0"/>
          </a:p>
        </p:txBody>
      </p:sp>
      <p:sp>
        <p:nvSpPr>
          <p:cNvPr id="23" name="Shape 21"/>
          <p:cNvSpPr/>
          <p:nvPr/>
        </p:nvSpPr>
        <p:spPr>
          <a:xfrm>
            <a:off x="6126480" y="2761488"/>
            <a:ext cx="2606040" cy="502920"/>
          </a:xfrm>
          <a:prstGeom prst="rect">
            <a:avLst/>
          </a:prstGeom>
          <a:solidFill>
            <a:srgbClr val="E8F4F8"/>
          </a:solidFill>
          <a:ln w="12700">
            <a:solidFill>
              <a:srgbClr val="C8DDE8"/>
            </a:solidFill>
            <a:prstDash val="solid"/>
          </a:ln>
        </p:spPr>
      </p:sp>
      <p:sp>
        <p:nvSpPr>
          <p:cNvPr id="24" name="Text 22"/>
          <p:cNvSpPr/>
          <p:nvPr/>
        </p:nvSpPr>
        <p:spPr>
          <a:xfrm>
            <a:off x="6217920" y="2798064"/>
            <a:ext cx="2423160" cy="219456"/>
          </a:xfrm>
          <a:prstGeom prst="rect">
            <a:avLst/>
          </a:prstGeom>
          <a:noFill/>
          <a:ln/>
        </p:spPr>
        <p:txBody>
          <a:bodyPr wrap="square" rtlCol="0" anchor="ctr"/>
          <a:lstStyle/>
          <a:p>
            <a:pPr marL="0" indent="0">
              <a:buNone/>
            </a:pPr>
            <a:r>
              <a:rPr lang="en-US" sz="1100" b="1" dirty="0">
                <a:solidFill>
                  <a:srgbClr val="0A9396"/>
                </a:solidFill>
              </a:rPr>
              <a:t>Year</a:t>
            </a:r>
            <a:endParaRPr lang="en-US" sz="1100" dirty="0"/>
          </a:p>
        </p:txBody>
      </p:sp>
      <p:sp>
        <p:nvSpPr>
          <p:cNvPr id="25" name="Text 23"/>
          <p:cNvSpPr/>
          <p:nvPr/>
        </p:nvSpPr>
        <p:spPr>
          <a:xfrm>
            <a:off x="6217920" y="3017520"/>
            <a:ext cx="2423160" cy="201168"/>
          </a:xfrm>
          <a:prstGeom prst="rect">
            <a:avLst/>
          </a:prstGeom>
          <a:noFill/>
          <a:ln/>
        </p:spPr>
        <p:txBody>
          <a:bodyPr wrap="square" rtlCol="0" anchor="ctr"/>
          <a:lstStyle/>
          <a:p>
            <a:pPr marL="0" indent="0">
              <a:buNone/>
            </a:pPr>
            <a:r>
              <a:rPr lang="en-US" sz="950" dirty="0">
                <a:solidFill>
                  <a:srgbClr val="64748B"/>
                </a:solidFill>
              </a:rPr>
              <a:t>Year breach occurred</a:t>
            </a:r>
            <a:endParaRPr lang="en-US" sz="950" dirty="0"/>
          </a:p>
        </p:txBody>
      </p:sp>
      <p:sp>
        <p:nvSpPr>
          <p:cNvPr id="26" name="Shape 24"/>
          <p:cNvSpPr/>
          <p:nvPr/>
        </p:nvSpPr>
        <p:spPr>
          <a:xfrm>
            <a:off x="457200" y="3355848"/>
            <a:ext cx="2606040" cy="502920"/>
          </a:xfrm>
          <a:prstGeom prst="rect">
            <a:avLst/>
          </a:prstGeom>
          <a:solidFill>
            <a:srgbClr val="E8F4F8"/>
          </a:solidFill>
          <a:ln w="12700">
            <a:solidFill>
              <a:srgbClr val="C8DDE8"/>
            </a:solidFill>
            <a:prstDash val="solid"/>
          </a:ln>
        </p:spPr>
      </p:sp>
      <p:sp>
        <p:nvSpPr>
          <p:cNvPr id="27" name="Text 25"/>
          <p:cNvSpPr/>
          <p:nvPr/>
        </p:nvSpPr>
        <p:spPr>
          <a:xfrm>
            <a:off x="548640" y="3392424"/>
            <a:ext cx="2423160" cy="219456"/>
          </a:xfrm>
          <a:prstGeom prst="rect">
            <a:avLst/>
          </a:prstGeom>
          <a:noFill/>
          <a:ln/>
        </p:spPr>
        <p:txBody>
          <a:bodyPr wrap="square" rtlCol="0" anchor="ctr"/>
          <a:lstStyle/>
          <a:p>
            <a:pPr marL="0" indent="0">
              <a:buNone/>
            </a:pPr>
            <a:r>
              <a:rPr lang="en-US" sz="1100" b="1" dirty="0">
                <a:solidFill>
                  <a:srgbClr val="0A9396"/>
                </a:solidFill>
              </a:rPr>
              <a:t>Records</a:t>
            </a:r>
            <a:endParaRPr lang="en-US" sz="1100" dirty="0"/>
          </a:p>
        </p:txBody>
      </p:sp>
      <p:sp>
        <p:nvSpPr>
          <p:cNvPr id="28" name="Text 26"/>
          <p:cNvSpPr/>
          <p:nvPr/>
        </p:nvSpPr>
        <p:spPr>
          <a:xfrm>
            <a:off x="548640" y="3611880"/>
            <a:ext cx="2423160" cy="201168"/>
          </a:xfrm>
          <a:prstGeom prst="rect">
            <a:avLst/>
          </a:prstGeom>
          <a:noFill/>
          <a:ln/>
        </p:spPr>
        <p:txBody>
          <a:bodyPr wrap="square" rtlCol="0" anchor="ctr"/>
          <a:lstStyle/>
          <a:p>
            <a:pPr marL="0" indent="0">
              <a:buNone/>
            </a:pPr>
            <a:r>
              <a:rPr lang="en-US" sz="950" dirty="0">
                <a:solidFill>
                  <a:srgbClr val="64748B"/>
                </a:solidFill>
              </a:rPr>
              <a:t>Records compromised (Integer)</a:t>
            </a:r>
            <a:endParaRPr lang="en-US" sz="950" dirty="0"/>
          </a:p>
        </p:txBody>
      </p:sp>
      <p:sp>
        <p:nvSpPr>
          <p:cNvPr id="29" name="Shape 27"/>
          <p:cNvSpPr/>
          <p:nvPr/>
        </p:nvSpPr>
        <p:spPr>
          <a:xfrm>
            <a:off x="3291840" y="3355848"/>
            <a:ext cx="2606040" cy="502920"/>
          </a:xfrm>
          <a:prstGeom prst="rect">
            <a:avLst/>
          </a:prstGeom>
          <a:solidFill>
            <a:srgbClr val="E8F4F8"/>
          </a:solidFill>
          <a:ln w="12700">
            <a:solidFill>
              <a:srgbClr val="C8DDE8"/>
            </a:solidFill>
            <a:prstDash val="solid"/>
          </a:ln>
        </p:spPr>
      </p:sp>
      <p:sp>
        <p:nvSpPr>
          <p:cNvPr id="30" name="Text 28"/>
          <p:cNvSpPr/>
          <p:nvPr/>
        </p:nvSpPr>
        <p:spPr>
          <a:xfrm>
            <a:off x="3383280" y="3392424"/>
            <a:ext cx="2423160" cy="219456"/>
          </a:xfrm>
          <a:prstGeom prst="rect">
            <a:avLst/>
          </a:prstGeom>
          <a:noFill/>
          <a:ln/>
        </p:spPr>
        <p:txBody>
          <a:bodyPr wrap="square" rtlCol="0" anchor="ctr"/>
          <a:lstStyle/>
          <a:p>
            <a:pPr marL="0" indent="0">
              <a:buNone/>
            </a:pPr>
            <a:r>
              <a:rPr lang="en-US" sz="1100" b="1" dirty="0">
                <a:solidFill>
                  <a:srgbClr val="0A9396"/>
                </a:solidFill>
              </a:rPr>
              <a:t>Organization type</a:t>
            </a:r>
            <a:endParaRPr lang="en-US" sz="1100" dirty="0"/>
          </a:p>
        </p:txBody>
      </p:sp>
      <p:sp>
        <p:nvSpPr>
          <p:cNvPr id="31" name="Text 29"/>
          <p:cNvSpPr/>
          <p:nvPr/>
        </p:nvSpPr>
        <p:spPr>
          <a:xfrm>
            <a:off x="3383280" y="3611880"/>
            <a:ext cx="2423160" cy="201168"/>
          </a:xfrm>
          <a:prstGeom prst="rect">
            <a:avLst/>
          </a:prstGeom>
          <a:noFill/>
          <a:ln/>
        </p:spPr>
        <p:txBody>
          <a:bodyPr wrap="square" rtlCol="0" anchor="ctr"/>
          <a:lstStyle/>
          <a:p>
            <a:pPr marL="0" indent="0">
              <a:buNone/>
            </a:pPr>
            <a:r>
              <a:rPr lang="en-US" sz="950" dirty="0">
                <a:solidFill>
                  <a:srgbClr val="64748B"/>
                </a:solidFill>
              </a:rPr>
              <a:t>Industry / sector</a:t>
            </a:r>
            <a:endParaRPr lang="en-US" sz="950" dirty="0"/>
          </a:p>
        </p:txBody>
      </p:sp>
      <p:sp>
        <p:nvSpPr>
          <p:cNvPr id="32" name="Shape 30"/>
          <p:cNvSpPr/>
          <p:nvPr/>
        </p:nvSpPr>
        <p:spPr>
          <a:xfrm>
            <a:off x="6126480" y="3355848"/>
            <a:ext cx="2606040" cy="502920"/>
          </a:xfrm>
          <a:prstGeom prst="rect">
            <a:avLst/>
          </a:prstGeom>
          <a:solidFill>
            <a:srgbClr val="E8F4F8"/>
          </a:solidFill>
          <a:ln w="12700">
            <a:solidFill>
              <a:srgbClr val="C8DDE8"/>
            </a:solidFill>
            <a:prstDash val="solid"/>
          </a:ln>
        </p:spPr>
      </p:sp>
      <p:sp>
        <p:nvSpPr>
          <p:cNvPr id="33" name="Text 31"/>
          <p:cNvSpPr/>
          <p:nvPr/>
        </p:nvSpPr>
        <p:spPr>
          <a:xfrm>
            <a:off x="6217920" y="3392424"/>
            <a:ext cx="2423160" cy="219456"/>
          </a:xfrm>
          <a:prstGeom prst="rect">
            <a:avLst/>
          </a:prstGeom>
          <a:noFill/>
          <a:ln/>
        </p:spPr>
        <p:txBody>
          <a:bodyPr wrap="square" rtlCol="0" anchor="ctr"/>
          <a:lstStyle/>
          <a:p>
            <a:pPr marL="0" indent="0">
              <a:buNone/>
            </a:pPr>
            <a:r>
              <a:rPr lang="en-US" sz="1100" b="1" dirty="0">
                <a:solidFill>
                  <a:srgbClr val="0A9396"/>
                </a:solidFill>
              </a:rPr>
              <a:t>Method</a:t>
            </a:r>
            <a:endParaRPr lang="en-US" sz="1100" dirty="0"/>
          </a:p>
        </p:txBody>
      </p:sp>
      <p:sp>
        <p:nvSpPr>
          <p:cNvPr id="34" name="Text 32"/>
          <p:cNvSpPr/>
          <p:nvPr/>
        </p:nvSpPr>
        <p:spPr>
          <a:xfrm>
            <a:off x="6217920" y="3611880"/>
            <a:ext cx="2423160" cy="201168"/>
          </a:xfrm>
          <a:prstGeom prst="rect">
            <a:avLst/>
          </a:prstGeom>
          <a:noFill/>
          <a:ln/>
        </p:spPr>
        <p:txBody>
          <a:bodyPr wrap="square" rtlCol="0" anchor="ctr"/>
          <a:lstStyle/>
          <a:p>
            <a:pPr marL="0" indent="0">
              <a:buNone/>
            </a:pPr>
            <a:r>
              <a:rPr lang="en-US" sz="950" dirty="0">
                <a:solidFill>
                  <a:srgbClr val="64748B"/>
                </a:solidFill>
              </a:rPr>
              <a:t>How the breach happened</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9FBDC2A-48AB-0879-D716-37FE11E79B33}"/>
              </a:ext>
            </a:extLst>
          </p:cNvPr>
          <p:cNvSpPr txBox="1"/>
          <p:nvPr/>
        </p:nvSpPr>
        <p:spPr>
          <a:xfrm>
            <a:off x="457199" y="1091095"/>
            <a:ext cx="8404087" cy="2308324"/>
          </a:xfrm>
          <a:prstGeom prst="rect">
            <a:avLst/>
          </a:prstGeom>
          <a:noFill/>
        </p:spPr>
        <p:txBody>
          <a:bodyPr wrap="square" rtlCol="0">
            <a:spAutoFit/>
          </a:bodyPr>
          <a:lstStyle/>
          <a:p>
            <a:pPr algn="l"/>
            <a:r>
              <a:rPr lang="en-IN" dirty="0"/>
              <a:t>The project focuses on </a:t>
            </a:r>
            <a:r>
              <a:rPr lang="en-IN" dirty="0" err="1"/>
              <a:t>analyzing</a:t>
            </a:r>
            <a:r>
              <a:rPr lang="en-IN" dirty="0"/>
              <a:t> a dataset of historical data breaches.
The main objectives are:
1. Clean and prepare raw breach data.
2. Identify industries with the highest number of breaches.
3. </a:t>
            </a:r>
            <a:r>
              <a:rPr lang="en-IN" dirty="0" err="1"/>
              <a:t>Analyze</a:t>
            </a:r>
            <a:r>
              <a:rPr lang="en-IN" dirty="0"/>
              <a:t> breach trends over different years.
4. Calculate the total number of records affected.
5. Find which industries suffered the largest data losses.
6. Visualize the results using charts for better understanding.</a:t>
            </a:r>
            <a:endParaRPr lang="en-US" dirty="0"/>
          </a:p>
        </p:txBody>
      </p:sp>
    </p:spTree>
    <p:extLst>
      <p:ext uri="{BB962C8B-B14F-4D97-AF65-F5344CB8AC3E}">
        <p14:creationId xmlns:p14="http://schemas.microsoft.com/office/powerpoint/2010/main" val="1599998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30352"/>
          </a:xfrm>
          <a:prstGeom prst="rect">
            <a:avLst/>
          </a:prstGeom>
          <a:noFill/>
          <a:ln/>
        </p:spPr>
        <p:txBody>
          <a:bodyPr wrap="square" rtlCol="0" anchor="ctr"/>
          <a:lstStyle/>
          <a:p>
            <a:pPr marL="0" indent="0">
              <a:buNone/>
            </a:pPr>
            <a:r>
              <a:rPr lang="en-US" sz="2800" b="1" dirty="0">
                <a:solidFill>
                  <a:srgbClr val="1E293B"/>
                </a:solidFill>
              </a:rPr>
              <a:t>Project Workflow</a:t>
            </a:r>
            <a:endParaRPr lang="en-US" sz="2800" dirty="0"/>
          </a:p>
        </p:txBody>
      </p:sp>
      <p:sp>
        <p:nvSpPr>
          <p:cNvPr id="3" name="Shape 1"/>
          <p:cNvSpPr/>
          <p:nvPr/>
        </p:nvSpPr>
        <p:spPr>
          <a:xfrm>
            <a:off x="457200" y="749808"/>
            <a:ext cx="1005840" cy="45720"/>
          </a:xfrm>
          <a:prstGeom prst="rect">
            <a:avLst/>
          </a:prstGeom>
          <a:solidFill>
            <a:srgbClr val="0A9396"/>
          </a:solidFill>
          <a:ln w="12700">
            <a:solidFill>
              <a:srgbClr val="0A9396"/>
            </a:solidFill>
            <a:prstDash val="solid"/>
          </a:ln>
        </p:spPr>
      </p:sp>
      <p:sp>
        <p:nvSpPr>
          <p:cNvPr id="4" name="Shape 2"/>
          <p:cNvSpPr/>
          <p:nvPr/>
        </p:nvSpPr>
        <p:spPr>
          <a:xfrm>
            <a:off x="365760" y="960120"/>
            <a:ext cx="2606040" cy="1664208"/>
          </a:xfrm>
          <a:prstGeom prst="rect">
            <a:avLst/>
          </a:prstGeom>
          <a:solidFill>
            <a:srgbClr val="FFFFFF"/>
          </a:solidFill>
          <a:ln w="12700">
            <a:solidFill>
              <a:srgbClr val="D1E8F0"/>
            </a:solidFill>
            <a:prstDash val="solid"/>
          </a:ln>
          <a:effectLst>
            <a:outerShdw blurRad="76200" dist="25400" dir="8100000" algn="bl" rotWithShape="0">
              <a:srgbClr val="000000">
                <a:alpha val="9000"/>
              </a:srgbClr>
            </a:outerShdw>
          </a:effectLst>
        </p:spPr>
      </p:sp>
      <p:sp>
        <p:nvSpPr>
          <p:cNvPr id="5" name="Shape 3"/>
          <p:cNvSpPr/>
          <p:nvPr/>
        </p:nvSpPr>
        <p:spPr>
          <a:xfrm>
            <a:off x="365760" y="960120"/>
            <a:ext cx="502920" cy="384048"/>
          </a:xfrm>
          <a:prstGeom prst="rect">
            <a:avLst/>
          </a:prstGeom>
          <a:solidFill>
            <a:srgbClr val="0A9396"/>
          </a:solidFill>
          <a:ln w="12700">
            <a:solidFill>
              <a:srgbClr val="0A9396"/>
            </a:solidFill>
            <a:prstDash val="solid"/>
          </a:ln>
        </p:spPr>
      </p:sp>
      <p:sp>
        <p:nvSpPr>
          <p:cNvPr id="6" name="Text 4"/>
          <p:cNvSpPr/>
          <p:nvPr/>
        </p:nvSpPr>
        <p:spPr>
          <a:xfrm>
            <a:off x="365760" y="960120"/>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7" name="Text 5"/>
          <p:cNvSpPr/>
          <p:nvPr/>
        </p:nvSpPr>
        <p:spPr>
          <a:xfrm>
            <a:off x="475488" y="1399032"/>
            <a:ext cx="2377440" cy="329184"/>
          </a:xfrm>
          <a:prstGeom prst="rect">
            <a:avLst/>
          </a:prstGeom>
          <a:noFill/>
          <a:ln/>
        </p:spPr>
        <p:txBody>
          <a:bodyPr wrap="square" rtlCol="0" anchor="ctr"/>
          <a:lstStyle/>
          <a:p>
            <a:pPr marL="0" indent="0">
              <a:buNone/>
            </a:pPr>
            <a:r>
              <a:rPr lang="en-US" sz="1200" b="1" dirty="0">
                <a:solidFill>
                  <a:srgbClr val="1E293B"/>
                </a:solidFill>
              </a:rPr>
              <a:t>Load Dataset</a:t>
            </a:r>
            <a:endParaRPr lang="en-US" sz="1200" dirty="0"/>
          </a:p>
        </p:txBody>
      </p:sp>
      <p:sp>
        <p:nvSpPr>
          <p:cNvPr id="8" name="Text 6"/>
          <p:cNvSpPr/>
          <p:nvPr/>
        </p:nvSpPr>
        <p:spPr>
          <a:xfrm>
            <a:off x="475488" y="1755648"/>
            <a:ext cx="2377440" cy="749808"/>
          </a:xfrm>
          <a:prstGeom prst="rect">
            <a:avLst/>
          </a:prstGeom>
          <a:noFill/>
          <a:ln/>
        </p:spPr>
        <p:txBody>
          <a:bodyPr wrap="square" rtlCol="0" anchor="ctr"/>
          <a:lstStyle/>
          <a:p>
            <a:pPr marL="0" indent="0">
              <a:buNone/>
            </a:pPr>
            <a:r>
              <a:rPr lang="en-US" sz="950" dirty="0">
                <a:solidFill>
                  <a:srgbClr val="64748B"/>
                </a:solidFill>
              </a:rPr>
              <a:t>Upload df_1.csv via Colab file picker; read with pd.read_csv()</a:t>
            </a:r>
            <a:endParaRPr lang="en-US" sz="950" dirty="0"/>
          </a:p>
        </p:txBody>
      </p:sp>
      <p:sp>
        <p:nvSpPr>
          <p:cNvPr id="9" name="Shape 7"/>
          <p:cNvSpPr/>
          <p:nvPr/>
        </p:nvSpPr>
        <p:spPr>
          <a:xfrm>
            <a:off x="3200400" y="960120"/>
            <a:ext cx="2606040" cy="1664208"/>
          </a:xfrm>
          <a:prstGeom prst="rect">
            <a:avLst/>
          </a:prstGeom>
          <a:solidFill>
            <a:srgbClr val="FFFFFF"/>
          </a:solidFill>
          <a:ln w="12700">
            <a:solidFill>
              <a:srgbClr val="D1E8F0"/>
            </a:solidFill>
            <a:prstDash val="solid"/>
          </a:ln>
          <a:effectLst>
            <a:outerShdw blurRad="76200" dist="25400" dir="8100000" algn="bl" rotWithShape="0">
              <a:srgbClr val="000000">
                <a:alpha val="9000"/>
              </a:srgbClr>
            </a:outerShdw>
          </a:effectLst>
        </p:spPr>
      </p:sp>
      <p:sp>
        <p:nvSpPr>
          <p:cNvPr id="10" name="Shape 8"/>
          <p:cNvSpPr/>
          <p:nvPr/>
        </p:nvSpPr>
        <p:spPr>
          <a:xfrm>
            <a:off x="3200400" y="960120"/>
            <a:ext cx="502920" cy="384048"/>
          </a:xfrm>
          <a:prstGeom prst="rect">
            <a:avLst/>
          </a:prstGeom>
          <a:solidFill>
            <a:srgbClr val="0A9396"/>
          </a:solidFill>
          <a:ln w="12700">
            <a:solidFill>
              <a:srgbClr val="0A9396"/>
            </a:solidFill>
            <a:prstDash val="solid"/>
          </a:ln>
        </p:spPr>
      </p:sp>
      <p:sp>
        <p:nvSpPr>
          <p:cNvPr id="11" name="Text 9"/>
          <p:cNvSpPr/>
          <p:nvPr/>
        </p:nvSpPr>
        <p:spPr>
          <a:xfrm>
            <a:off x="3200400" y="960120"/>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12" name="Text 10"/>
          <p:cNvSpPr/>
          <p:nvPr/>
        </p:nvSpPr>
        <p:spPr>
          <a:xfrm>
            <a:off x="3310128" y="1399032"/>
            <a:ext cx="2377440" cy="329184"/>
          </a:xfrm>
          <a:prstGeom prst="rect">
            <a:avLst/>
          </a:prstGeom>
          <a:noFill/>
          <a:ln/>
        </p:spPr>
        <p:txBody>
          <a:bodyPr wrap="square" rtlCol="0" anchor="ctr"/>
          <a:lstStyle/>
          <a:p>
            <a:pPr marL="0" indent="0">
              <a:buNone/>
            </a:pPr>
            <a:r>
              <a:rPr lang="en-US" sz="1200" b="1" dirty="0">
                <a:solidFill>
                  <a:srgbClr val="1E293B"/>
                </a:solidFill>
              </a:rPr>
              <a:t>Import Libraries</a:t>
            </a:r>
            <a:endParaRPr lang="en-US" sz="1200" dirty="0"/>
          </a:p>
        </p:txBody>
      </p:sp>
      <p:sp>
        <p:nvSpPr>
          <p:cNvPr id="13" name="Text 11"/>
          <p:cNvSpPr/>
          <p:nvPr/>
        </p:nvSpPr>
        <p:spPr>
          <a:xfrm>
            <a:off x="3310128" y="1755648"/>
            <a:ext cx="2377440" cy="749808"/>
          </a:xfrm>
          <a:prstGeom prst="rect">
            <a:avLst/>
          </a:prstGeom>
          <a:noFill/>
          <a:ln/>
        </p:spPr>
        <p:txBody>
          <a:bodyPr wrap="square" rtlCol="0" anchor="ctr"/>
          <a:lstStyle/>
          <a:p>
            <a:pPr marL="0" indent="0">
              <a:buNone/>
            </a:pPr>
            <a:r>
              <a:rPr lang="en-US" sz="950" dirty="0">
                <a:solidFill>
                  <a:srgbClr val="64748B"/>
                </a:solidFill>
              </a:rPr>
              <a:t>pandas, numpy, matplotlib.pyplot imported</a:t>
            </a:r>
            <a:endParaRPr lang="en-US" sz="950" dirty="0"/>
          </a:p>
        </p:txBody>
      </p:sp>
      <p:sp>
        <p:nvSpPr>
          <p:cNvPr id="14" name="Shape 12"/>
          <p:cNvSpPr/>
          <p:nvPr/>
        </p:nvSpPr>
        <p:spPr>
          <a:xfrm>
            <a:off x="6035040" y="960120"/>
            <a:ext cx="2606040" cy="1664208"/>
          </a:xfrm>
          <a:prstGeom prst="rect">
            <a:avLst/>
          </a:prstGeom>
          <a:solidFill>
            <a:srgbClr val="FFFFFF"/>
          </a:solidFill>
          <a:ln w="12700">
            <a:solidFill>
              <a:srgbClr val="D1E8F0"/>
            </a:solidFill>
            <a:prstDash val="solid"/>
          </a:ln>
          <a:effectLst>
            <a:outerShdw blurRad="76200" dist="25400" dir="8100000" algn="bl" rotWithShape="0">
              <a:srgbClr val="000000">
                <a:alpha val="9000"/>
              </a:srgbClr>
            </a:outerShdw>
          </a:effectLst>
        </p:spPr>
      </p:sp>
      <p:sp>
        <p:nvSpPr>
          <p:cNvPr id="15" name="Shape 13"/>
          <p:cNvSpPr/>
          <p:nvPr/>
        </p:nvSpPr>
        <p:spPr>
          <a:xfrm>
            <a:off x="6035040" y="960120"/>
            <a:ext cx="502920" cy="384048"/>
          </a:xfrm>
          <a:prstGeom prst="rect">
            <a:avLst/>
          </a:prstGeom>
          <a:solidFill>
            <a:srgbClr val="0A9396"/>
          </a:solidFill>
          <a:ln w="12700">
            <a:solidFill>
              <a:srgbClr val="0A9396"/>
            </a:solidFill>
            <a:prstDash val="solid"/>
          </a:ln>
        </p:spPr>
      </p:sp>
      <p:sp>
        <p:nvSpPr>
          <p:cNvPr id="16" name="Text 14"/>
          <p:cNvSpPr/>
          <p:nvPr/>
        </p:nvSpPr>
        <p:spPr>
          <a:xfrm>
            <a:off x="6035040" y="960120"/>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17" name="Text 15"/>
          <p:cNvSpPr/>
          <p:nvPr/>
        </p:nvSpPr>
        <p:spPr>
          <a:xfrm>
            <a:off x="6144768" y="1399032"/>
            <a:ext cx="2377440" cy="329184"/>
          </a:xfrm>
          <a:prstGeom prst="rect">
            <a:avLst/>
          </a:prstGeom>
          <a:noFill/>
          <a:ln/>
        </p:spPr>
        <p:txBody>
          <a:bodyPr wrap="square" rtlCol="0" anchor="ctr"/>
          <a:lstStyle/>
          <a:p>
            <a:pPr marL="0" indent="0">
              <a:buNone/>
            </a:pPr>
            <a:r>
              <a:rPr lang="en-US" sz="1200" b="1" dirty="0">
                <a:solidFill>
                  <a:srgbClr val="1E293B"/>
                </a:solidFill>
              </a:rPr>
              <a:t>Data Cleaning</a:t>
            </a:r>
            <a:endParaRPr lang="en-US" sz="1200" dirty="0"/>
          </a:p>
        </p:txBody>
      </p:sp>
      <p:sp>
        <p:nvSpPr>
          <p:cNvPr id="18" name="Text 16"/>
          <p:cNvSpPr/>
          <p:nvPr/>
        </p:nvSpPr>
        <p:spPr>
          <a:xfrm>
            <a:off x="6144768" y="1755648"/>
            <a:ext cx="2377440" cy="749808"/>
          </a:xfrm>
          <a:prstGeom prst="rect">
            <a:avLst/>
          </a:prstGeom>
          <a:noFill/>
          <a:ln/>
        </p:spPr>
        <p:txBody>
          <a:bodyPr wrap="square" rtlCol="0" anchor="ctr"/>
          <a:lstStyle/>
          <a:p>
            <a:pPr marL="0" indent="0">
              <a:buNone/>
            </a:pPr>
            <a:r>
              <a:rPr lang="en-US" sz="950" dirty="0">
                <a:solidFill>
                  <a:srgbClr val="64748B"/>
                </a:solidFill>
              </a:rPr>
              <a:t>Check nulls (Records: 2, Method: 1, Sources: 2), drop missing rows → 305 rows</a:t>
            </a:r>
            <a:endParaRPr lang="en-US" sz="950" dirty="0"/>
          </a:p>
        </p:txBody>
      </p:sp>
      <p:sp>
        <p:nvSpPr>
          <p:cNvPr id="19" name="Shape 17"/>
          <p:cNvSpPr/>
          <p:nvPr/>
        </p:nvSpPr>
        <p:spPr>
          <a:xfrm>
            <a:off x="365760" y="2834640"/>
            <a:ext cx="2606040" cy="1664208"/>
          </a:xfrm>
          <a:prstGeom prst="rect">
            <a:avLst/>
          </a:prstGeom>
          <a:solidFill>
            <a:srgbClr val="FFFFFF"/>
          </a:solidFill>
          <a:ln w="12700">
            <a:solidFill>
              <a:srgbClr val="D1E8F0"/>
            </a:solidFill>
            <a:prstDash val="solid"/>
          </a:ln>
          <a:effectLst>
            <a:outerShdw blurRad="76200" dist="25400" dir="8100000" algn="bl" rotWithShape="0">
              <a:srgbClr val="000000">
                <a:alpha val="9000"/>
              </a:srgbClr>
            </a:outerShdw>
          </a:effectLst>
        </p:spPr>
      </p:sp>
      <p:sp>
        <p:nvSpPr>
          <p:cNvPr id="20" name="Shape 18"/>
          <p:cNvSpPr/>
          <p:nvPr/>
        </p:nvSpPr>
        <p:spPr>
          <a:xfrm>
            <a:off x="365760" y="2834640"/>
            <a:ext cx="502920" cy="384048"/>
          </a:xfrm>
          <a:prstGeom prst="rect">
            <a:avLst/>
          </a:prstGeom>
          <a:solidFill>
            <a:srgbClr val="0A9396"/>
          </a:solidFill>
          <a:ln w="12700">
            <a:solidFill>
              <a:srgbClr val="0A9396"/>
            </a:solidFill>
            <a:prstDash val="solid"/>
          </a:ln>
        </p:spPr>
      </p:sp>
      <p:sp>
        <p:nvSpPr>
          <p:cNvPr id="21" name="Text 19"/>
          <p:cNvSpPr/>
          <p:nvPr/>
        </p:nvSpPr>
        <p:spPr>
          <a:xfrm>
            <a:off x="365760" y="2834640"/>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22" name="Text 20"/>
          <p:cNvSpPr/>
          <p:nvPr/>
        </p:nvSpPr>
        <p:spPr>
          <a:xfrm>
            <a:off x="475488" y="3273552"/>
            <a:ext cx="2377440" cy="329184"/>
          </a:xfrm>
          <a:prstGeom prst="rect">
            <a:avLst/>
          </a:prstGeom>
          <a:noFill/>
          <a:ln/>
        </p:spPr>
        <p:txBody>
          <a:bodyPr wrap="square" rtlCol="0" anchor="ctr"/>
          <a:lstStyle/>
          <a:p>
            <a:pPr marL="0" indent="0">
              <a:buNone/>
            </a:pPr>
            <a:r>
              <a:rPr lang="en-US" sz="1200" b="1" dirty="0">
                <a:solidFill>
                  <a:srgbClr val="1E293B"/>
                </a:solidFill>
              </a:rPr>
              <a:t>Rename &amp; Format</a:t>
            </a:r>
            <a:endParaRPr lang="en-US" sz="1200" dirty="0"/>
          </a:p>
        </p:txBody>
      </p:sp>
      <p:sp>
        <p:nvSpPr>
          <p:cNvPr id="23" name="Text 21"/>
          <p:cNvSpPr/>
          <p:nvPr/>
        </p:nvSpPr>
        <p:spPr>
          <a:xfrm>
            <a:off x="475488" y="3630168"/>
            <a:ext cx="2377440" cy="749808"/>
          </a:xfrm>
          <a:prstGeom prst="rect">
            <a:avLst/>
          </a:prstGeom>
          <a:noFill/>
          <a:ln/>
        </p:spPr>
        <p:txBody>
          <a:bodyPr wrap="square" rtlCol="0" anchor="ctr"/>
          <a:lstStyle/>
          <a:p>
            <a:pPr marL="0" indent="0">
              <a:buNone/>
            </a:pPr>
            <a:r>
              <a:rPr lang="en-US" sz="950" dirty="0">
                <a:solidFill>
                  <a:srgbClr val="64748B"/>
                </a:solidFill>
              </a:rPr>
              <a:t>Rename columns: Entity→organization, Records→records_affected, etc.</a:t>
            </a:r>
            <a:endParaRPr lang="en-US" sz="950" dirty="0"/>
          </a:p>
        </p:txBody>
      </p:sp>
      <p:sp>
        <p:nvSpPr>
          <p:cNvPr id="24" name="Shape 22"/>
          <p:cNvSpPr/>
          <p:nvPr/>
        </p:nvSpPr>
        <p:spPr>
          <a:xfrm>
            <a:off x="3200400" y="2834640"/>
            <a:ext cx="2606040" cy="1664208"/>
          </a:xfrm>
          <a:prstGeom prst="rect">
            <a:avLst/>
          </a:prstGeom>
          <a:solidFill>
            <a:srgbClr val="FFFFFF"/>
          </a:solidFill>
          <a:ln w="12700">
            <a:solidFill>
              <a:srgbClr val="D1E8F0"/>
            </a:solidFill>
            <a:prstDash val="solid"/>
          </a:ln>
          <a:effectLst>
            <a:outerShdw blurRad="76200" dist="25400" dir="8100000" algn="bl" rotWithShape="0">
              <a:srgbClr val="000000">
                <a:alpha val="9000"/>
              </a:srgbClr>
            </a:outerShdw>
          </a:effectLst>
        </p:spPr>
      </p:sp>
      <p:sp>
        <p:nvSpPr>
          <p:cNvPr id="25" name="Shape 23"/>
          <p:cNvSpPr/>
          <p:nvPr/>
        </p:nvSpPr>
        <p:spPr>
          <a:xfrm>
            <a:off x="3200400" y="2834640"/>
            <a:ext cx="502920" cy="384048"/>
          </a:xfrm>
          <a:prstGeom prst="rect">
            <a:avLst/>
          </a:prstGeom>
          <a:solidFill>
            <a:srgbClr val="0A9396"/>
          </a:solidFill>
          <a:ln w="12700">
            <a:solidFill>
              <a:srgbClr val="0A9396"/>
            </a:solidFill>
            <a:prstDash val="solid"/>
          </a:ln>
        </p:spPr>
      </p:sp>
      <p:sp>
        <p:nvSpPr>
          <p:cNvPr id="26" name="Text 24"/>
          <p:cNvSpPr/>
          <p:nvPr/>
        </p:nvSpPr>
        <p:spPr>
          <a:xfrm>
            <a:off x="3200400" y="2834640"/>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rPr>
              <a:t>05</a:t>
            </a:r>
            <a:endParaRPr lang="en-US" sz="1300" dirty="0"/>
          </a:p>
        </p:txBody>
      </p:sp>
      <p:sp>
        <p:nvSpPr>
          <p:cNvPr id="27" name="Text 25"/>
          <p:cNvSpPr/>
          <p:nvPr/>
        </p:nvSpPr>
        <p:spPr>
          <a:xfrm>
            <a:off x="3310128" y="3273552"/>
            <a:ext cx="2377440" cy="329184"/>
          </a:xfrm>
          <a:prstGeom prst="rect">
            <a:avLst/>
          </a:prstGeom>
          <a:noFill/>
          <a:ln/>
        </p:spPr>
        <p:txBody>
          <a:bodyPr wrap="square" rtlCol="0" anchor="ctr"/>
          <a:lstStyle/>
          <a:p>
            <a:pPr marL="0" indent="0">
              <a:buNone/>
            </a:pPr>
            <a:r>
              <a:rPr lang="en-US" sz="1200" b="1" dirty="0">
                <a:solidFill>
                  <a:srgbClr val="1E293B"/>
                </a:solidFill>
              </a:rPr>
              <a:t>Fix Data Types</a:t>
            </a:r>
            <a:endParaRPr lang="en-US" sz="1200" dirty="0"/>
          </a:p>
        </p:txBody>
      </p:sp>
      <p:sp>
        <p:nvSpPr>
          <p:cNvPr id="28" name="Text 26"/>
          <p:cNvSpPr/>
          <p:nvPr/>
        </p:nvSpPr>
        <p:spPr>
          <a:xfrm>
            <a:off x="3310128" y="3630168"/>
            <a:ext cx="2377440" cy="749808"/>
          </a:xfrm>
          <a:prstGeom prst="rect">
            <a:avLst/>
          </a:prstGeom>
          <a:noFill/>
          <a:ln/>
        </p:spPr>
        <p:txBody>
          <a:bodyPr wrap="square" rtlCol="0" anchor="ctr"/>
          <a:lstStyle/>
          <a:p>
            <a:pPr marL="0" indent="0">
              <a:buNone/>
            </a:pPr>
            <a:r>
              <a:rPr lang="en-US" sz="950" dirty="0">
                <a:solidFill>
                  <a:srgbClr val="64748B"/>
                </a:solidFill>
              </a:rPr>
              <a:t>Convert records to numeric, year to int, strip extra spaces from industry</a:t>
            </a:r>
            <a:endParaRPr lang="en-US" sz="950" dirty="0"/>
          </a:p>
        </p:txBody>
      </p:sp>
      <p:sp>
        <p:nvSpPr>
          <p:cNvPr id="29" name="Shape 27"/>
          <p:cNvSpPr/>
          <p:nvPr/>
        </p:nvSpPr>
        <p:spPr>
          <a:xfrm>
            <a:off x="6035040" y="2834640"/>
            <a:ext cx="2606040" cy="1664208"/>
          </a:xfrm>
          <a:prstGeom prst="rect">
            <a:avLst/>
          </a:prstGeom>
          <a:solidFill>
            <a:srgbClr val="FFFFFF"/>
          </a:solidFill>
          <a:ln w="12700">
            <a:solidFill>
              <a:srgbClr val="D1E8F0"/>
            </a:solidFill>
            <a:prstDash val="solid"/>
          </a:ln>
          <a:effectLst>
            <a:outerShdw blurRad="76200" dist="25400" dir="8100000" algn="bl" rotWithShape="0">
              <a:srgbClr val="000000">
                <a:alpha val="9000"/>
              </a:srgbClr>
            </a:outerShdw>
          </a:effectLst>
        </p:spPr>
      </p:sp>
      <p:sp>
        <p:nvSpPr>
          <p:cNvPr id="30" name="Shape 28"/>
          <p:cNvSpPr/>
          <p:nvPr/>
        </p:nvSpPr>
        <p:spPr>
          <a:xfrm>
            <a:off x="6035040" y="2834640"/>
            <a:ext cx="502920" cy="384048"/>
          </a:xfrm>
          <a:prstGeom prst="rect">
            <a:avLst/>
          </a:prstGeom>
          <a:solidFill>
            <a:srgbClr val="0A9396"/>
          </a:solidFill>
          <a:ln w="12700">
            <a:solidFill>
              <a:srgbClr val="0A9396"/>
            </a:solidFill>
            <a:prstDash val="solid"/>
          </a:ln>
        </p:spPr>
      </p:sp>
      <p:sp>
        <p:nvSpPr>
          <p:cNvPr id="31" name="Text 29"/>
          <p:cNvSpPr/>
          <p:nvPr/>
        </p:nvSpPr>
        <p:spPr>
          <a:xfrm>
            <a:off x="6035040" y="2834640"/>
            <a:ext cx="502920" cy="384048"/>
          </a:xfrm>
          <a:prstGeom prst="rect">
            <a:avLst/>
          </a:prstGeom>
          <a:noFill/>
          <a:ln/>
        </p:spPr>
        <p:txBody>
          <a:bodyPr wrap="square" lIns="0" tIns="0" rIns="0" bIns="0" rtlCol="0" anchor="ctr"/>
          <a:lstStyle/>
          <a:p>
            <a:pPr marL="0" indent="0" algn="ctr">
              <a:buNone/>
            </a:pPr>
            <a:r>
              <a:rPr lang="en-US" sz="1300" b="1" dirty="0">
                <a:solidFill>
                  <a:srgbClr val="FFFFFF"/>
                </a:solidFill>
              </a:rPr>
              <a:t>06</a:t>
            </a:r>
            <a:endParaRPr lang="en-US" sz="1300" dirty="0"/>
          </a:p>
        </p:txBody>
      </p:sp>
      <p:sp>
        <p:nvSpPr>
          <p:cNvPr id="32" name="Text 30"/>
          <p:cNvSpPr/>
          <p:nvPr/>
        </p:nvSpPr>
        <p:spPr>
          <a:xfrm>
            <a:off x="6144768" y="3273552"/>
            <a:ext cx="2377440" cy="329184"/>
          </a:xfrm>
          <a:prstGeom prst="rect">
            <a:avLst/>
          </a:prstGeom>
          <a:noFill/>
          <a:ln/>
        </p:spPr>
        <p:txBody>
          <a:bodyPr wrap="square" rtlCol="0" anchor="ctr"/>
          <a:lstStyle/>
          <a:p>
            <a:pPr marL="0" indent="0">
              <a:buNone/>
            </a:pPr>
            <a:r>
              <a:rPr lang="en-US" sz="1200" b="1" dirty="0">
                <a:solidFill>
                  <a:srgbClr val="1E293B"/>
                </a:solidFill>
              </a:rPr>
              <a:t>EDA &amp; Visualize</a:t>
            </a:r>
            <a:endParaRPr lang="en-US" sz="1200" dirty="0"/>
          </a:p>
        </p:txBody>
      </p:sp>
      <p:sp>
        <p:nvSpPr>
          <p:cNvPr id="33" name="Text 31"/>
          <p:cNvSpPr/>
          <p:nvPr/>
        </p:nvSpPr>
        <p:spPr>
          <a:xfrm>
            <a:off x="6144768" y="3630168"/>
            <a:ext cx="2377440" cy="749808"/>
          </a:xfrm>
          <a:prstGeom prst="rect">
            <a:avLst/>
          </a:prstGeom>
          <a:noFill/>
          <a:ln/>
        </p:spPr>
        <p:txBody>
          <a:bodyPr wrap="square" rtlCol="0" anchor="ctr"/>
          <a:lstStyle/>
          <a:p>
            <a:pPr marL="0" indent="0">
              <a:buNone/>
            </a:pPr>
            <a:r>
              <a:rPr lang="en-US" sz="950" dirty="0">
                <a:solidFill>
                  <a:srgbClr val="64748B"/>
                </a:solidFill>
              </a:rPr>
              <a:t>Bar chart, line chart for breach trends + Q&amp;A analysis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1E293B"/>
                </a:solidFill>
              </a:rPr>
              <a:t>Data Wrangling — Actual Code</a:t>
            </a:r>
            <a:endParaRPr lang="en-US" sz="2800" dirty="0"/>
          </a:p>
        </p:txBody>
      </p:sp>
      <p:sp>
        <p:nvSpPr>
          <p:cNvPr id="3" name="Shape 1"/>
          <p:cNvSpPr/>
          <p:nvPr/>
        </p:nvSpPr>
        <p:spPr>
          <a:xfrm>
            <a:off x="457200" y="704088"/>
            <a:ext cx="1554480" cy="45720"/>
          </a:xfrm>
          <a:prstGeom prst="rect">
            <a:avLst/>
          </a:prstGeom>
          <a:solidFill>
            <a:srgbClr val="0A9396"/>
          </a:solidFill>
          <a:ln w="12700">
            <a:solidFill>
              <a:srgbClr val="0A9396"/>
            </a:solidFill>
            <a:prstDash val="solid"/>
          </a:ln>
        </p:spPr>
      </p:sp>
      <p:sp>
        <p:nvSpPr>
          <p:cNvPr id="4" name="Shape 2"/>
          <p:cNvSpPr/>
          <p:nvPr/>
        </p:nvSpPr>
        <p:spPr>
          <a:xfrm>
            <a:off x="365760" y="914400"/>
            <a:ext cx="5029200" cy="3794760"/>
          </a:xfrm>
          <a:prstGeom prst="rect">
            <a:avLst/>
          </a:prstGeom>
          <a:solidFill>
            <a:srgbClr val="1E2A38"/>
          </a:solidFill>
          <a:ln w="12700">
            <a:solidFill>
              <a:srgbClr val="2D3E50"/>
            </a:solidFill>
            <a:prstDash val="solid"/>
          </a:ln>
        </p:spPr>
      </p:sp>
      <p:sp>
        <p:nvSpPr>
          <p:cNvPr id="5" name="Text 3"/>
          <p:cNvSpPr/>
          <p:nvPr/>
        </p:nvSpPr>
        <p:spPr>
          <a:xfrm>
            <a:off x="530352" y="1042416"/>
            <a:ext cx="4709160" cy="182880"/>
          </a:xfrm>
          <a:prstGeom prst="rect">
            <a:avLst/>
          </a:prstGeom>
          <a:noFill/>
          <a:ln/>
        </p:spPr>
        <p:txBody>
          <a:bodyPr wrap="square" rtlCol="0" anchor="ctr"/>
          <a:lstStyle/>
          <a:p>
            <a:pPr marL="0" indent="0">
              <a:buNone/>
            </a:pPr>
            <a:r>
              <a:rPr lang="en-US" sz="1000" dirty="0">
                <a:solidFill>
                  <a:srgbClr val="5BA3C9"/>
                </a:solidFill>
                <a:latin typeface="Courier New" pitchFamily="34" charset="0"/>
                <a:ea typeface="Courier New" pitchFamily="34" charset="-122"/>
                <a:cs typeface="Courier New" pitchFamily="34" charset="-120"/>
              </a:rPr>
              <a:t># Step 1: Check missing values</a:t>
            </a:r>
            <a:endParaRPr lang="en-US" sz="1000" dirty="0"/>
          </a:p>
        </p:txBody>
      </p:sp>
      <p:sp>
        <p:nvSpPr>
          <p:cNvPr id="6" name="Text 4"/>
          <p:cNvSpPr/>
          <p:nvPr/>
        </p:nvSpPr>
        <p:spPr>
          <a:xfrm>
            <a:off x="530352" y="1211580"/>
            <a:ext cx="4709160" cy="182880"/>
          </a:xfrm>
          <a:prstGeom prst="rect">
            <a:avLst/>
          </a:prstGeom>
          <a:noFill/>
          <a:ln/>
        </p:spPr>
        <p:txBody>
          <a:bodyPr wrap="square" rtlCol="0" anchor="ctr"/>
          <a:lstStyle/>
          <a:p>
            <a:pPr marL="0" indent="0">
              <a:buNone/>
            </a:pPr>
            <a:r>
              <a:rPr lang="en-US" sz="1000" dirty="0">
                <a:solidFill>
                  <a:srgbClr val="CAF0F8"/>
                </a:solidFill>
                <a:latin typeface="Courier New" pitchFamily="34" charset="0"/>
                <a:ea typeface="Courier New" pitchFamily="34" charset="-122"/>
                <a:cs typeface="Courier New" pitchFamily="34" charset="-120"/>
              </a:rPr>
              <a:t>print(df.isnull().sum())</a:t>
            </a:r>
            <a:endParaRPr lang="en-US" sz="1000" dirty="0"/>
          </a:p>
        </p:txBody>
      </p:sp>
      <p:sp>
        <p:nvSpPr>
          <p:cNvPr id="7" name="Text 5"/>
          <p:cNvSpPr/>
          <p:nvPr/>
        </p:nvSpPr>
        <p:spPr>
          <a:xfrm>
            <a:off x="530352" y="1380744"/>
            <a:ext cx="4709160" cy="182880"/>
          </a:xfrm>
          <a:prstGeom prst="rect">
            <a:avLst/>
          </a:prstGeom>
          <a:noFill/>
          <a:ln/>
        </p:spPr>
        <p:txBody>
          <a:bodyPr wrap="square" rtlCol="0" anchor="ctr"/>
          <a:lstStyle/>
          <a:p>
            <a:pPr marL="0" indent="0">
              <a:buNone/>
            </a:pPr>
            <a:r>
              <a:rPr lang="en-US" sz="1000" dirty="0">
                <a:solidFill>
                  <a:srgbClr val="6B8A9C"/>
                </a:solidFill>
                <a:latin typeface="Courier New" pitchFamily="34" charset="0"/>
                <a:ea typeface="Courier New" pitchFamily="34" charset="-122"/>
                <a:cs typeface="Courier New" pitchFamily="34" charset="-120"/>
              </a:rPr>
              <a:t># Records:2  Method:1  Sources:2</a:t>
            </a:r>
            <a:endParaRPr lang="en-US" sz="1000" dirty="0"/>
          </a:p>
        </p:txBody>
      </p:sp>
      <p:sp>
        <p:nvSpPr>
          <p:cNvPr id="8" name="Text 6"/>
          <p:cNvSpPr/>
          <p:nvPr/>
        </p:nvSpPr>
        <p:spPr>
          <a:xfrm>
            <a:off x="530352" y="1549908"/>
            <a:ext cx="4709160" cy="182880"/>
          </a:xfrm>
          <a:prstGeom prst="rect">
            <a:avLst/>
          </a:prstGeom>
          <a:noFill/>
          <a:ln/>
        </p:spPr>
        <p:txBody>
          <a:bodyPr wrap="square" rtlCol="0" anchor="ctr"/>
          <a:lstStyle/>
          <a:p>
            <a:pPr marL="0" indent="0">
              <a:buNone/>
            </a:pPr>
            <a:endParaRPr lang="en-US" sz="1000" dirty="0"/>
          </a:p>
        </p:txBody>
      </p:sp>
      <p:sp>
        <p:nvSpPr>
          <p:cNvPr id="9" name="Text 7"/>
          <p:cNvSpPr/>
          <p:nvPr/>
        </p:nvSpPr>
        <p:spPr>
          <a:xfrm>
            <a:off x="530352" y="1719072"/>
            <a:ext cx="4709160" cy="182880"/>
          </a:xfrm>
          <a:prstGeom prst="rect">
            <a:avLst/>
          </a:prstGeom>
          <a:noFill/>
          <a:ln/>
        </p:spPr>
        <p:txBody>
          <a:bodyPr wrap="square" rtlCol="0" anchor="ctr"/>
          <a:lstStyle/>
          <a:p>
            <a:pPr marL="0" indent="0">
              <a:buNone/>
            </a:pPr>
            <a:r>
              <a:rPr lang="en-US" sz="1000" dirty="0">
                <a:solidFill>
                  <a:srgbClr val="5BA3C9"/>
                </a:solidFill>
                <a:latin typeface="Courier New" pitchFamily="34" charset="0"/>
                <a:ea typeface="Courier New" pitchFamily="34" charset="-122"/>
                <a:cs typeface="Courier New" pitchFamily="34" charset="-120"/>
              </a:rPr>
              <a:t># Step 2: Rename columns</a:t>
            </a:r>
            <a:endParaRPr lang="en-US" sz="1000" dirty="0"/>
          </a:p>
        </p:txBody>
      </p:sp>
      <p:sp>
        <p:nvSpPr>
          <p:cNvPr id="10" name="Text 8"/>
          <p:cNvSpPr/>
          <p:nvPr/>
        </p:nvSpPr>
        <p:spPr>
          <a:xfrm>
            <a:off x="530352" y="1888236"/>
            <a:ext cx="4709160" cy="182880"/>
          </a:xfrm>
          <a:prstGeom prst="rect">
            <a:avLst/>
          </a:prstGeom>
          <a:noFill/>
          <a:ln/>
        </p:spPr>
        <p:txBody>
          <a:bodyPr wrap="square" rtlCol="0" anchor="ctr"/>
          <a:lstStyle/>
          <a:p>
            <a:pPr marL="0" indent="0">
              <a:buNone/>
            </a:pPr>
            <a:r>
              <a:rPr lang="en-US" sz="1000" dirty="0">
                <a:solidFill>
                  <a:srgbClr val="CAF0F8"/>
                </a:solidFill>
                <a:latin typeface="Courier New" pitchFamily="34" charset="0"/>
                <a:ea typeface="Courier New" pitchFamily="34" charset="-122"/>
                <a:cs typeface="Courier New" pitchFamily="34" charset="-120"/>
              </a:rPr>
              <a:t>df.rename(columns={</a:t>
            </a:r>
            <a:endParaRPr lang="en-US" sz="1000" dirty="0"/>
          </a:p>
        </p:txBody>
      </p:sp>
      <p:sp>
        <p:nvSpPr>
          <p:cNvPr id="11" name="Text 9"/>
          <p:cNvSpPr/>
          <p:nvPr/>
        </p:nvSpPr>
        <p:spPr>
          <a:xfrm>
            <a:off x="530352" y="2057400"/>
            <a:ext cx="4709160" cy="182880"/>
          </a:xfrm>
          <a:prstGeom prst="rect">
            <a:avLst/>
          </a:prstGeom>
          <a:noFill/>
          <a:ln/>
        </p:spPr>
        <p:txBody>
          <a:bodyPr wrap="square" rtlCol="0" anchor="ctr"/>
          <a:lstStyle/>
          <a:p>
            <a:pPr marL="0" indent="0">
              <a:buNone/>
            </a:pPr>
            <a:r>
              <a:rPr lang="en-US" sz="1000" dirty="0">
                <a:solidFill>
                  <a:srgbClr val="A8D8A8"/>
                </a:solidFill>
                <a:latin typeface="Courier New" pitchFamily="34" charset="0"/>
                <a:ea typeface="Courier New" pitchFamily="34" charset="-122"/>
                <a:cs typeface="Courier New" pitchFamily="34" charset="-120"/>
              </a:rPr>
              <a:t>  'Entity':'organization',</a:t>
            </a:r>
            <a:endParaRPr lang="en-US" sz="1000" dirty="0"/>
          </a:p>
        </p:txBody>
      </p:sp>
      <p:sp>
        <p:nvSpPr>
          <p:cNvPr id="12" name="Text 10"/>
          <p:cNvSpPr/>
          <p:nvPr/>
        </p:nvSpPr>
        <p:spPr>
          <a:xfrm>
            <a:off x="530352" y="2226564"/>
            <a:ext cx="4709160" cy="182880"/>
          </a:xfrm>
          <a:prstGeom prst="rect">
            <a:avLst/>
          </a:prstGeom>
          <a:noFill/>
          <a:ln/>
        </p:spPr>
        <p:txBody>
          <a:bodyPr wrap="square" rtlCol="0" anchor="ctr"/>
          <a:lstStyle/>
          <a:p>
            <a:pPr marL="0" indent="0">
              <a:buNone/>
            </a:pPr>
            <a:r>
              <a:rPr lang="en-US" sz="1000" dirty="0">
                <a:solidFill>
                  <a:srgbClr val="A8D8A8"/>
                </a:solidFill>
                <a:latin typeface="Courier New" pitchFamily="34" charset="0"/>
                <a:ea typeface="Courier New" pitchFamily="34" charset="-122"/>
                <a:cs typeface="Courier New" pitchFamily="34" charset="-120"/>
              </a:rPr>
              <a:t>  'Records':'records_affected',</a:t>
            </a:r>
            <a:endParaRPr lang="en-US" sz="1000" dirty="0"/>
          </a:p>
        </p:txBody>
      </p:sp>
      <p:sp>
        <p:nvSpPr>
          <p:cNvPr id="13" name="Text 11"/>
          <p:cNvSpPr/>
          <p:nvPr/>
        </p:nvSpPr>
        <p:spPr>
          <a:xfrm>
            <a:off x="530352" y="2395728"/>
            <a:ext cx="4709160" cy="182880"/>
          </a:xfrm>
          <a:prstGeom prst="rect">
            <a:avLst/>
          </a:prstGeom>
          <a:noFill/>
          <a:ln/>
        </p:spPr>
        <p:txBody>
          <a:bodyPr wrap="square" rtlCol="0" anchor="ctr"/>
          <a:lstStyle/>
          <a:p>
            <a:pPr marL="0" indent="0">
              <a:buNone/>
            </a:pPr>
            <a:r>
              <a:rPr lang="en-US" sz="1000" dirty="0">
                <a:solidFill>
                  <a:srgbClr val="A8D8A8"/>
                </a:solidFill>
                <a:latin typeface="Courier New" pitchFamily="34" charset="0"/>
                <a:ea typeface="Courier New" pitchFamily="34" charset="-122"/>
                <a:cs typeface="Courier New" pitchFamily="34" charset="-120"/>
              </a:rPr>
              <a:t>  'Organization type':'industry'</a:t>
            </a:r>
            <a:endParaRPr lang="en-US" sz="1000" dirty="0"/>
          </a:p>
        </p:txBody>
      </p:sp>
      <p:sp>
        <p:nvSpPr>
          <p:cNvPr id="14" name="Text 12"/>
          <p:cNvSpPr/>
          <p:nvPr/>
        </p:nvSpPr>
        <p:spPr>
          <a:xfrm>
            <a:off x="530352" y="2564892"/>
            <a:ext cx="4709160" cy="182880"/>
          </a:xfrm>
          <a:prstGeom prst="rect">
            <a:avLst/>
          </a:prstGeom>
          <a:noFill/>
          <a:ln/>
        </p:spPr>
        <p:txBody>
          <a:bodyPr wrap="square" rtlCol="0" anchor="ctr"/>
          <a:lstStyle/>
          <a:p>
            <a:pPr marL="0" indent="0">
              <a:buNone/>
            </a:pPr>
            <a:r>
              <a:rPr lang="en-US" sz="1000" dirty="0">
                <a:solidFill>
                  <a:srgbClr val="CAF0F8"/>
                </a:solidFill>
                <a:latin typeface="Courier New" pitchFamily="34" charset="0"/>
                <a:ea typeface="Courier New" pitchFamily="34" charset="-122"/>
                <a:cs typeface="Courier New" pitchFamily="34" charset="-120"/>
              </a:rPr>
              <a:t>}, inplace=True)</a:t>
            </a:r>
            <a:endParaRPr lang="en-US" sz="1000" dirty="0"/>
          </a:p>
        </p:txBody>
      </p:sp>
      <p:sp>
        <p:nvSpPr>
          <p:cNvPr id="15" name="Text 13"/>
          <p:cNvSpPr/>
          <p:nvPr/>
        </p:nvSpPr>
        <p:spPr>
          <a:xfrm>
            <a:off x="530352" y="2734056"/>
            <a:ext cx="4709160" cy="182880"/>
          </a:xfrm>
          <a:prstGeom prst="rect">
            <a:avLst/>
          </a:prstGeom>
          <a:noFill/>
          <a:ln/>
        </p:spPr>
        <p:txBody>
          <a:bodyPr wrap="square" rtlCol="0" anchor="ctr"/>
          <a:lstStyle/>
          <a:p>
            <a:pPr marL="0" indent="0">
              <a:buNone/>
            </a:pPr>
            <a:endParaRPr lang="en-US" sz="1000" dirty="0"/>
          </a:p>
        </p:txBody>
      </p:sp>
      <p:sp>
        <p:nvSpPr>
          <p:cNvPr id="16" name="Text 14"/>
          <p:cNvSpPr/>
          <p:nvPr/>
        </p:nvSpPr>
        <p:spPr>
          <a:xfrm>
            <a:off x="530352" y="2903220"/>
            <a:ext cx="4709160" cy="182880"/>
          </a:xfrm>
          <a:prstGeom prst="rect">
            <a:avLst/>
          </a:prstGeom>
          <a:noFill/>
          <a:ln/>
        </p:spPr>
        <p:txBody>
          <a:bodyPr wrap="square" rtlCol="0" anchor="ctr"/>
          <a:lstStyle/>
          <a:p>
            <a:pPr marL="0" indent="0">
              <a:buNone/>
            </a:pPr>
            <a:r>
              <a:rPr lang="en-US" sz="1000" dirty="0">
                <a:solidFill>
                  <a:srgbClr val="5BA3C9"/>
                </a:solidFill>
                <a:latin typeface="Courier New" pitchFamily="34" charset="0"/>
                <a:ea typeface="Courier New" pitchFamily="34" charset="-122"/>
                <a:cs typeface="Courier New" pitchFamily="34" charset="-120"/>
              </a:rPr>
              <a:t># Step 3: Drop nulls → 305 rows</a:t>
            </a:r>
            <a:endParaRPr lang="en-US" sz="1000" dirty="0"/>
          </a:p>
        </p:txBody>
      </p:sp>
      <p:sp>
        <p:nvSpPr>
          <p:cNvPr id="17" name="Text 15"/>
          <p:cNvSpPr/>
          <p:nvPr/>
        </p:nvSpPr>
        <p:spPr>
          <a:xfrm>
            <a:off x="530352" y="3072384"/>
            <a:ext cx="4709160" cy="182880"/>
          </a:xfrm>
          <a:prstGeom prst="rect">
            <a:avLst/>
          </a:prstGeom>
          <a:noFill/>
          <a:ln/>
        </p:spPr>
        <p:txBody>
          <a:bodyPr wrap="square" rtlCol="0" anchor="ctr"/>
          <a:lstStyle/>
          <a:p>
            <a:pPr marL="0" indent="0">
              <a:buNone/>
            </a:pPr>
            <a:r>
              <a:rPr lang="en-US" sz="1000" dirty="0">
                <a:solidFill>
                  <a:srgbClr val="CAF0F8"/>
                </a:solidFill>
                <a:latin typeface="Courier New" pitchFamily="34" charset="0"/>
                <a:ea typeface="Courier New" pitchFamily="34" charset="-122"/>
                <a:cs typeface="Courier New" pitchFamily="34" charset="-120"/>
              </a:rPr>
              <a:t>df.dropna(subset=['industry',</a:t>
            </a:r>
            <a:endParaRPr lang="en-US" sz="1000" dirty="0"/>
          </a:p>
        </p:txBody>
      </p:sp>
      <p:sp>
        <p:nvSpPr>
          <p:cNvPr id="18" name="Text 16"/>
          <p:cNvSpPr/>
          <p:nvPr/>
        </p:nvSpPr>
        <p:spPr>
          <a:xfrm>
            <a:off x="530352" y="3241548"/>
            <a:ext cx="4709160" cy="182880"/>
          </a:xfrm>
          <a:prstGeom prst="rect">
            <a:avLst/>
          </a:prstGeom>
          <a:noFill/>
          <a:ln/>
        </p:spPr>
        <p:txBody>
          <a:bodyPr wrap="square" rtlCol="0" anchor="ctr"/>
          <a:lstStyle/>
          <a:p>
            <a:pPr marL="0" indent="0">
              <a:buNone/>
            </a:pPr>
            <a:r>
              <a:rPr lang="en-US" sz="1000" dirty="0">
                <a:solidFill>
                  <a:srgbClr val="CAF0F8"/>
                </a:solidFill>
                <a:latin typeface="Courier New" pitchFamily="34" charset="0"/>
                <a:ea typeface="Courier New" pitchFamily="34" charset="-122"/>
                <a:cs typeface="Courier New" pitchFamily="34" charset="-120"/>
              </a:rPr>
              <a:t>   'records_affected','year'])</a:t>
            </a:r>
            <a:endParaRPr lang="en-US" sz="1000" dirty="0"/>
          </a:p>
        </p:txBody>
      </p:sp>
      <p:sp>
        <p:nvSpPr>
          <p:cNvPr id="19" name="Text 17"/>
          <p:cNvSpPr/>
          <p:nvPr/>
        </p:nvSpPr>
        <p:spPr>
          <a:xfrm>
            <a:off x="530352" y="3410712"/>
            <a:ext cx="4709160" cy="182880"/>
          </a:xfrm>
          <a:prstGeom prst="rect">
            <a:avLst/>
          </a:prstGeom>
          <a:noFill/>
          <a:ln/>
        </p:spPr>
        <p:txBody>
          <a:bodyPr wrap="square" rtlCol="0" anchor="ctr"/>
          <a:lstStyle/>
          <a:p>
            <a:pPr marL="0" indent="0">
              <a:buNone/>
            </a:pPr>
            <a:endParaRPr lang="en-US" sz="1000" dirty="0"/>
          </a:p>
        </p:txBody>
      </p:sp>
      <p:sp>
        <p:nvSpPr>
          <p:cNvPr id="20" name="Text 18"/>
          <p:cNvSpPr/>
          <p:nvPr/>
        </p:nvSpPr>
        <p:spPr>
          <a:xfrm>
            <a:off x="530352" y="3579876"/>
            <a:ext cx="4709160" cy="182880"/>
          </a:xfrm>
          <a:prstGeom prst="rect">
            <a:avLst/>
          </a:prstGeom>
          <a:noFill/>
          <a:ln/>
        </p:spPr>
        <p:txBody>
          <a:bodyPr wrap="square" rtlCol="0" anchor="ctr"/>
          <a:lstStyle/>
          <a:p>
            <a:pPr marL="0" indent="0">
              <a:buNone/>
            </a:pPr>
            <a:r>
              <a:rPr lang="en-US" sz="1000" dirty="0">
                <a:solidFill>
                  <a:srgbClr val="5BA3C9"/>
                </a:solidFill>
                <a:latin typeface="Courier New" pitchFamily="34" charset="0"/>
                <a:ea typeface="Courier New" pitchFamily="34" charset="-122"/>
                <a:cs typeface="Courier New" pitchFamily="34" charset="-120"/>
              </a:rPr>
              <a:t># Step 4: Fix data types</a:t>
            </a:r>
            <a:endParaRPr lang="en-US" sz="1000" dirty="0"/>
          </a:p>
        </p:txBody>
      </p:sp>
      <p:sp>
        <p:nvSpPr>
          <p:cNvPr id="21" name="Text 19"/>
          <p:cNvSpPr/>
          <p:nvPr/>
        </p:nvSpPr>
        <p:spPr>
          <a:xfrm>
            <a:off x="530352" y="3749040"/>
            <a:ext cx="4709160" cy="182880"/>
          </a:xfrm>
          <a:prstGeom prst="rect">
            <a:avLst/>
          </a:prstGeom>
          <a:noFill/>
          <a:ln/>
        </p:spPr>
        <p:txBody>
          <a:bodyPr wrap="square" rtlCol="0" anchor="ctr"/>
          <a:lstStyle/>
          <a:p>
            <a:pPr marL="0" indent="0">
              <a:buNone/>
            </a:pPr>
            <a:r>
              <a:rPr lang="en-US" sz="1000" dirty="0">
                <a:solidFill>
                  <a:srgbClr val="CAF0F8"/>
                </a:solidFill>
                <a:latin typeface="Courier New" pitchFamily="34" charset="0"/>
                <a:ea typeface="Courier New" pitchFamily="34" charset="-122"/>
                <a:cs typeface="Courier New" pitchFamily="34" charset="-120"/>
              </a:rPr>
              <a:t>df['year'] = df['year'].astype(int)</a:t>
            </a:r>
            <a:endParaRPr lang="en-US" sz="1000" dirty="0"/>
          </a:p>
        </p:txBody>
      </p:sp>
      <p:sp>
        <p:nvSpPr>
          <p:cNvPr id="22" name="Shape 20"/>
          <p:cNvSpPr/>
          <p:nvPr/>
        </p:nvSpPr>
        <p:spPr>
          <a:xfrm>
            <a:off x="5623560" y="914400"/>
            <a:ext cx="3108960" cy="1783080"/>
          </a:xfrm>
          <a:prstGeom prst="rect">
            <a:avLst/>
          </a:prstGeom>
          <a:solidFill>
            <a:srgbClr val="1E2A38"/>
          </a:solidFill>
          <a:ln w="12700">
            <a:solidFill>
              <a:srgbClr val="2D3E50"/>
            </a:solidFill>
            <a:prstDash val="solid"/>
          </a:ln>
        </p:spPr>
      </p:sp>
      <p:sp>
        <p:nvSpPr>
          <p:cNvPr id="23" name="Text 21"/>
          <p:cNvSpPr/>
          <p:nvPr/>
        </p:nvSpPr>
        <p:spPr>
          <a:xfrm>
            <a:off x="5715000" y="987552"/>
            <a:ext cx="2926080" cy="256032"/>
          </a:xfrm>
          <a:prstGeom prst="rect">
            <a:avLst/>
          </a:prstGeom>
          <a:noFill/>
          <a:ln/>
        </p:spPr>
        <p:txBody>
          <a:bodyPr wrap="square" rtlCol="0" anchor="ctr"/>
          <a:lstStyle/>
          <a:p>
            <a:pPr marL="0" indent="0">
              <a:buNone/>
            </a:pPr>
            <a:r>
              <a:rPr lang="en-US" sz="1000" b="1" dirty="0">
                <a:solidFill>
                  <a:srgbClr val="0A9396"/>
                </a:solidFill>
                <a:latin typeface="Courier New" pitchFamily="34" charset="0"/>
                <a:ea typeface="Courier New" pitchFamily="34" charset="-122"/>
                <a:cs typeface="Courier New" pitchFamily="34" charset="-120"/>
              </a:rPr>
              <a:t>Missing Values Output:</a:t>
            </a:r>
            <a:endParaRPr lang="en-US" sz="1000" dirty="0"/>
          </a:p>
        </p:txBody>
      </p:sp>
      <p:sp>
        <p:nvSpPr>
          <p:cNvPr id="24" name="Text 22"/>
          <p:cNvSpPr/>
          <p:nvPr/>
        </p:nvSpPr>
        <p:spPr>
          <a:xfrm>
            <a:off x="5715000" y="1280160"/>
            <a:ext cx="2926080" cy="182880"/>
          </a:xfrm>
          <a:prstGeom prst="rect">
            <a:avLst/>
          </a:prstGeom>
          <a:noFill/>
          <a:ln/>
        </p:spPr>
        <p:txBody>
          <a:bodyPr wrap="square" rtlCol="0" anchor="ctr"/>
          <a:lstStyle/>
          <a:p>
            <a:pPr marL="0" indent="0">
              <a:buNone/>
            </a:pPr>
            <a:r>
              <a:rPr lang="en-US" sz="950" dirty="0">
                <a:solidFill>
                  <a:srgbClr val="CAF0F8"/>
                </a:solidFill>
                <a:latin typeface="Courier New" pitchFamily="34" charset="0"/>
                <a:ea typeface="Courier New" pitchFamily="34" charset="-122"/>
                <a:cs typeface="Courier New" pitchFamily="34" charset="-120"/>
              </a:rPr>
              <a:t>Unnamed: 0        0</a:t>
            </a:r>
            <a:endParaRPr lang="en-US" sz="950" dirty="0"/>
          </a:p>
        </p:txBody>
      </p:sp>
      <p:sp>
        <p:nvSpPr>
          <p:cNvPr id="25" name="Text 23"/>
          <p:cNvSpPr/>
          <p:nvPr/>
        </p:nvSpPr>
        <p:spPr>
          <a:xfrm>
            <a:off x="5715000" y="1463040"/>
            <a:ext cx="2926080" cy="182880"/>
          </a:xfrm>
          <a:prstGeom prst="rect">
            <a:avLst/>
          </a:prstGeom>
          <a:noFill/>
          <a:ln/>
        </p:spPr>
        <p:txBody>
          <a:bodyPr wrap="square" rtlCol="0" anchor="ctr"/>
          <a:lstStyle/>
          <a:p>
            <a:pPr marL="0" indent="0">
              <a:buNone/>
            </a:pPr>
            <a:r>
              <a:rPr lang="en-US" sz="950" dirty="0">
                <a:solidFill>
                  <a:srgbClr val="CAF0F8"/>
                </a:solidFill>
                <a:latin typeface="Courier New" pitchFamily="34" charset="0"/>
                <a:ea typeface="Courier New" pitchFamily="34" charset="-122"/>
                <a:cs typeface="Courier New" pitchFamily="34" charset="-120"/>
              </a:rPr>
              <a:t>Entity            0</a:t>
            </a:r>
            <a:endParaRPr lang="en-US" sz="950" dirty="0"/>
          </a:p>
        </p:txBody>
      </p:sp>
      <p:sp>
        <p:nvSpPr>
          <p:cNvPr id="26" name="Text 24"/>
          <p:cNvSpPr/>
          <p:nvPr/>
        </p:nvSpPr>
        <p:spPr>
          <a:xfrm>
            <a:off x="5715000" y="1645920"/>
            <a:ext cx="2926080" cy="182880"/>
          </a:xfrm>
          <a:prstGeom prst="rect">
            <a:avLst/>
          </a:prstGeom>
          <a:noFill/>
          <a:ln/>
        </p:spPr>
        <p:txBody>
          <a:bodyPr wrap="square" rtlCol="0" anchor="ctr"/>
          <a:lstStyle/>
          <a:p>
            <a:pPr marL="0" indent="0">
              <a:buNone/>
            </a:pPr>
            <a:r>
              <a:rPr lang="en-US" sz="950" dirty="0">
                <a:solidFill>
                  <a:srgbClr val="CAF0F8"/>
                </a:solidFill>
                <a:latin typeface="Courier New" pitchFamily="34" charset="0"/>
                <a:ea typeface="Courier New" pitchFamily="34" charset="-122"/>
                <a:cs typeface="Courier New" pitchFamily="34" charset="-120"/>
              </a:rPr>
              <a:t>Year              0</a:t>
            </a:r>
            <a:endParaRPr lang="en-US" sz="950" dirty="0"/>
          </a:p>
        </p:txBody>
      </p:sp>
      <p:sp>
        <p:nvSpPr>
          <p:cNvPr id="27" name="Text 25"/>
          <p:cNvSpPr/>
          <p:nvPr/>
        </p:nvSpPr>
        <p:spPr>
          <a:xfrm>
            <a:off x="5715000" y="1828800"/>
            <a:ext cx="2926080" cy="182880"/>
          </a:xfrm>
          <a:prstGeom prst="rect">
            <a:avLst/>
          </a:prstGeom>
          <a:noFill/>
          <a:ln/>
        </p:spPr>
        <p:txBody>
          <a:bodyPr wrap="square" rtlCol="0" anchor="ctr"/>
          <a:lstStyle/>
          <a:p>
            <a:pPr marL="0" indent="0">
              <a:buNone/>
            </a:pPr>
            <a:r>
              <a:rPr lang="en-US" sz="950" dirty="0">
                <a:solidFill>
                  <a:srgbClr val="CAF0F8"/>
                </a:solidFill>
                <a:latin typeface="Courier New" pitchFamily="34" charset="0"/>
                <a:ea typeface="Courier New" pitchFamily="34" charset="-122"/>
                <a:cs typeface="Courier New" pitchFamily="34" charset="-120"/>
              </a:rPr>
              <a:t>Records           2</a:t>
            </a:r>
            <a:endParaRPr lang="en-US" sz="950" dirty="0"/>
          </a:p>
        </p:txBody>
      </p:sp>
      <p:sp>
        <p:nvSpPr>
          <p:cNvPr id="28" name="Text 26"/>
          <p:cNvSpPr/>
          <p:nvPr/>
        </p:nvSpPr>
        <p:spPr>
          <a:xfrm>
            <a:off x="5715000" y="2011680"/>
            <a:ext cx="2926080" cy="182880"/>
          </a:xfrm>
          <a:prstGeom prst="rect">
            <a:avLst/>
          </a:prstGeom>
          <a:noFill/>
          <a:ln/>
        </p:spPr>
        <p:txBody>
          <a:bodyPr wrap="square" rtlCol="0" anchor="ctr"/>
          <a:lstStyle/>
          <a:p>
            <a:pPr marL="0" indent="0">
              <a:buNone/>
            </a:pPr>
            <a:r>
              <a:rPr lang="en-US" sz="950" dirty="0">
                <a:solidFill>
                  <a:srgbClr val="CAF0F8"/>
                </a:solidFill>
                <a:latin typeface="Courier New" pitchFamily="34" charset="0"/>
                <a:ea typeface="Courier New" pitchFamily="34" charset="-122"/>
                <a:cs typeface="Courier New" pitchFamily="34" charset="-120"/>
              </a:rPr>
              <a:t>Organization type 0</a:t>
            </a:r>
            <a:endParaRPr lang="en-US" sz="950" dirty="0"/>
          </a:p>
        </p:txBody>
      </p:sp>
      <p:sp>
        <p:nvSpPr>
          <p:cNvPr id="29" name="Text 27"/>
          <p:cNvSpPr/>
          <p:nvPr/>
        </p:nvSpPr>
        <p:spPr>
          <a:xfrm>
            <a:off x="5715000" y="2194560"/>
            <a:ext cx="2926080" cy="182880"/>
          </a:xfrm>
          <a:prstGeom prst="rect">
            <a:avLst/>
          </a:prstGeom>
          <a:noFill/>
          <a:ln/>
        </p:spPr>
        <p:txBody>
          <a:bodyPr wrap="square" rtlCol="0" anchor="ctr"/>
          <a:lstStyle/>
          <a:p>
            <a:pPr marL="0" indent="0">
              <a:buNone/>
            </a:pPr>
            <a:r>
              <a:rPr lang="en-US" sz="950" dirty="0">
                <a:solidFill>
                  <a:srgbClr val="CAF0F8"/>
                </a:solidFill>
                <a:latin typeface="Courier New" pitchFamily="34" charset="0"/>
                <a:ea typeface="Courier New" pitchFamily="34" charset="-122"/>
                <a:cs typeface="Courier New" pitchFamily="34" charset="-120"/>
              </a:rPr>
              <a:t>Method            1</a:t>
            </a:r>
            <a:endParaRPr lang="en-US" sz="950" dirty="0"/>
          </a:p>
        </p:txBody>
      </p:sp>
      <p:sp>
        <p:nvSpPr>
          <p:cNvPr id="30" name="Text 28"/>
          <p:cNvSpPr/>
          <p:nvPr/>
        </p:nvSpPr>
        <p:spPr>
          <a:xfrm>
            <a:off x="5715000" y="2377440"/>
            <a:ext cx="2926080" cy="182880"/>
          </a:xfrm>
          <a:prstGeom prst="rect">
            <a:avLst/>
          </a:prstGeom>
          <a:noFill/>
          <a:ln/>
        </p:spPr>
        <p:txBody>
          <a:bodyPr wrap="square" rtlCol="0" anchor="ctr"/>
          <a:lstStyle/>
          <a:p>
            <a:pPr marL="0" indent="0">
              <a:buNone/>
            </a:pPr>
            <a:r>
              <a:rPr lang="en-US" sz="950" dirty="0">
                <a:solidFill>
                  <a:srgbClr val="CAF0F8"/>
                </a:solidFill>
                <a:latin typeface="Courier New" pitchFamily="34" charset="0"/>
                <a:ea typeface="Courier New" pitchFamily="34" charset="-122"/>
                <a:cs typeface="Courier New" pitchFamily="34" charset="-120"/>
              </a:rPr>
              <a:t>Sources           2</a:t>
            </a:r>
            <a:endParaRPr lang="en-US" sz="950" dirty="0"/>
          </a:p>
        </p:txBody>
      </p:sp>
      <p:sp>
        <p:nvSpPr>
          <p:cNvPr id="31" name="Shape 29"/>
          <p:cNvSpPr/>
          <p:nvPr/>
        </p:nvSpPr>
        <p:spPr>
          <a:xfrm>
            <a:off x="5623560" y="2834640"/>
            <a:ext cx="3108960" cy="731520"/>
          </a:xfrm>
          <a:prstGeom prst="rect">
            <a:avLst/>
          </a:prstGeom>
          <a:solidFill>
            <a:srgbClr val="FFFFFF"/>
          </a:solidFill>
          <a:ln w="12700">
            <a:solidFill>
              <a:srgbClr val="D1E8F0"/>
            </a:solidFill>
            <a:prstDash val="solid"/>
          </a:ln>
        </p:spPr>
      </p:sp>
      <p:sp>
        <p:nvSpPr>
          <p:cNvPr id="32" name="Shape 30"/>
          <p:cNvSpPr/>
          <p:nvPr/>
        </p:nvSpPr>
        <p:spPr>
          <a:xfrm>
            <a:off x="5623560" y="2834640"/>
            <a:ext cx="64008" cy="731520"/>
          </a:xfrm>
          <a:prstGeom prst="rect">
            <a:avLst/>
          </a:prstGeom>
          <a:solidFill>
            <a:srgbClr val="0A9396"/>
          </a:solidFill>
          <a:ln w="12700">
            <a:solidFill>
              <a:srgbClr val="0A9396"/>
            </a:solidFill>
            <a:prstDash val="solid"/>
          </a:ln>
        </p:spPr>
      </p:sp>
      <p:sp>
        <p:nvSpPr>
          <p:cNvPr id="33" name="Text 31"/>
          <p:cNvSpPr/>
          <p:nvPr/>
        </p:nvSpPr>
        <p:spPr>
          <a:xfrm>
            <a:off x="5779008" y="2907792"/>
            <a:ext cx="2834640" cy="256032"/>
          </a:xfrm>
          <a:prstGeom prst="rect">
            <a:avLst/>
          </a:prstGeom>
          <a:noFill/>
          <a:ln/>
        </p:spPr>
        <p:txBody>
          <a:bodyPr wrap="square" rtlCol="0" anchor="ctr"/>
          <a:lstStyle/>
          <a:p>
            <a:pPr marL="0" indent="0">
              <a:buNone/>
            </a:pPr>
            <a:r>
              <a:rPr lang="en-US" sz="1100" b="1" dirty="0">
                <a:solidFill>
                  <a:srgbClr val="1E293B"/>
                </a:solidFill>
              </a:rPr>
              <a:t>After Cleaning</a:t>
            </a:r>
            <a:endParaRPr lang="en-US" sz="1100" dirty="0"/>
          </a:p>
        </p:txBody>
      </p:sp>
      <p:sp>
        <p:nvSpPr>
          <p:cNvPr id="34" name="Text 32"/>
          <p:cNvSpPr/>
          <p:nvPr/>
        </p:nvSpPr>
        <p:spPr>
          <a:xfrm>
            <a:off x="5779008" y="3163824"/>
            <a:ext cx="2834640" cy="256032"/>
          </a:xfrm>
          <a:prstGeom prst="rect">
            <a:avLst/>
          </a:prstGeom>
          <a:noFill/>
          <a:ln/>
        </p:spPr>
        <p:txBody>
          <a:bodyPr wrap="square" rtlCol="0" anchor="ctr"/>
          <a:lstStyle/>
          <a:p>
            <a:pPr marL="0" indent="0">
              <a:buNone/>
            </a:pPr>
            <a:r>
              <a:rPr lang="en-US" sz="1000" dirty="0">
                <a:solidFill>
                  <a:srgbClr val="64748B"/>
                </a:solidFill>
              </a:rPr>
              <a:t>352 → 305 rows  (47 rows dropped)</a:t>
            </a:r>
            <a:endParaRPr lang="en-US" sz="1000" dirty="0"/>
          </a:p>
        </p:txBody>
      </p:sp>
      <p:sp>
        <p:nvSpPr>
          <p:cNvPr id="35" name="Shape 33"/>
          <p:cNvSpPr/>
          <p:nvPr/>
        </p:nvSpPr>
        <p:spPr>
          <a:xfrm>
            <a:off x="5623560" y="3703320"/>
            <a:ext cx="3108960" cy="731520"/>
          </a:xfrm>
          <a:prstGeom prst="rect">
            <a:avLst/>
          </a:prstGeom>
          <a:solidFill>
            <a:srgbClr val="FFFFFF"/>
          </a:solidFill>
          <a:ln w="12700">
            <a:solidFill>
              <a:srgbClr val="D1E8F0"/>
            </a:solidFill>
            <a:prstDash val="solid"/>
          </a:ln>
        </p:spPr>
      </p:sp>
      <p:sp>
        <p:nvSpPr>
          <p:cNvPr id="36" name="Shape 34"/>
          <p:cNvSpPr/>
          <p:nvPr/>
        </p:nvSpPr>
        <p:spPr>
          <a:xfrm>
            <a:off x="5623560" y="3703320"/>
            <a:ext cx="64008" cy="731520"/>
          </a:xfrm>
          <a:prstGeom prst="rect">
            <a:avLst/>
          </a:prstGeom>
          <a:solidFill>
            <a:srgbClr val="F4A261"/>
          </a:solidFill>
          <a:ln w="12700">
            <a:solidFill>
              <a:srgbClr val="F4A261"/>
            </a:solidFill>
            <a:prstDash val="solid"/>
          </a:ln>
        </p:spPr>
      </p:sp>
      <p:sp>
        <p:nvSpPr>
          <p:cNvPr id="37" name="Text 35"/>
          <p:cNvSpPr/>
          <p:nvPr/>
        </p:nvSpPr>
        <p:spPr>
          <a:xfrm>
            <a:off x="5779008" y="3776472"/>
            <a:ext cx="2834640" cy="256032"/>
          </a:xfrm>
          <a:prstGeom prst="rect">
            <a:avLst/>
          </a:prstGeom>
          <a:noFill/>
          <a:ln/>
        </p:spPr>
        <p:txBody>
          <a:bodyPr wrap="square" rtlCol="0" anchor="ctr"/>
          <a:lstStyle/>
          <a:p>
            <a:pPr marL="0" indent="0">
              <a:buNone/>
            </a:pPr>
            <a:r>
              <a:rPr lang="en-US" sz="1100" b="1" dirty="0">
                <a:solidFill>
                  <a:srgbClr val="1E293B"/>
                </a:solidFill>
              </a:rPr>
              <a:t>Duplicates Removed</a:t>
            </a:r>
            <a:endParaRPr lang="en-US" sz="1100" dirty="0"/>
          </a:p>
        </p:txBody>
      </p:sp>
      <p:sp>
        <p:nvSpPr>
          <p:cNvPr id="38" name="Text 36"/>
          <p:cNvSpPr/>
          <p:nvPr/>
        </p:nvSpPr>
        <p:spPr>
          <a:xfrm>
            <a:off x="5779008" y="4032504"/>
            <a:ext cx="2834640" cy="256032"/>
          </a:xfrm>
          <a:prstGeom prst="rect">
            <a:avLst/>
          </a:prstGeom>
          <a:noFill/>
          <a:ln/>
        </p:spPr>
        <p:txBody>
          <a:bodyPr wrap="square" rtlCol="0" anchor="ctr"/>
          <a:lstStyle/>
          <a:p>
            <a:pPr marL="0" indent="0">
              <a:buNone/>
            </a:pPr>
            <a:r>
              <a:rPr lang="en-US" sz="1000" dirty="0">
                <a:solidFill>
                  <a:srgbClr val="64748B"/>
                </a:solidFill>
              </a:rPr>
              <a:t>Final clean dataset: 304 rows × 7 cols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p:spPr>
        <p:txBody>
          <a:bodyPr wrap="square" rtlCol="0" anchor="ctr"/>
          <a:lstStyle/>
          <a:p>
            <a:pPr marL="0" indent="0">
              <a:buNone/>
            </a:pPr>
            <a:r>
              <a:rPr lang="en-US" sz="2800" b="1" dirty="0">
                <a:solidFill>
                  <a:srgbClr val="1E293B"/>
                </a:solidFill>
              </a:rPr>
              <a:t>Project Output — Charts</a:t>
            </a:r>
            <a:endParaRPr lang="en-US" sz="2800" dirty="0"/>
          </a:p>
        </p:txBody>
      </p:sp>
      <p:sp>
        <p:nvSpPr>
          <p:cNvPr id="3" name="Shape 1"/>
          <p:cNvSpPr/>
          <p:nvPr/>
        </p:nvSpPr>
        <p:spPr>
          <a:xfrm>
            <a:off x="457200" y="704088"/>
            <a:ext cx="1280160" cy="45720"/>
          </a:xfrm>
          <a:prstGeom prst="rect">
            <a:avLst/>
          </a:prstGeom>
          <a:solidFill>
            <a:srgbClr val="0A9396"/>
          </a:solidFill>
          <a:ln w="12700">
            <a:solidFill>
              <a:srgbClr val="0A9396"/>
            </a:solidFill>
            <a:prstDash val="solid"/>
          </a:ln>
        </p:spPr>
      </p:sp>
      <p:sp>
        <p:nvSpPr>
          <p:cNvPr id="4" name="Shape 2"/>
          <p:cNvSpPr/>
          <p:nvPr/>
        </p:nvSpPr>
        <p:spPr>
          <a:xfrm>
            <a:off x="365760" y="914400"/>
            <a:ext cx="4114800" cy="4046220"/>
          </a:xfrm>
          <a:prstGeom prst="rect">
            <a:avLst/>
          </a:prstGeom>
          <a:solidFill>
            <a:srgbClr val="E4EEF4"/>
          </a:solidFill>
          <a:ln w="12700">
            <a:solidFill>
              <a:srgbClr val="B0CCE0"/>
            </a:solidFill>
            <a:prstDash val="solid"/>
          </a:ln>
        </p:spPr>
        <p:txBody>
          <a:bodyPr/>
          <a:lstStyle/>
          <a:p>
            <a:endParaRPr lang="en-US" dirty="0"/>
          </a:p>
        </p:txBody>
      </p:sp>
      <p:sp>
        <p:nvSpPr>
          <p:cNvPr id="5" name="Text 3"/>
          <p:cNvSpPr/>
          <p:nvPr/>
        </p:nvSpPr>
        <p:spPr>
          <a:xfrm>
            <a:off x="365760" y="1234440"/>
            <a:ext cx="4114800" cy="640080"/>
          </a:xfrm>
          <a:prstGeom prst="rect">
            <a:avLst/>
          </a:prstGeom>
          <a:noFill/>
        </p:spPr>
        <p:txBody>
          <a:bodyPr wrap="square" rtlCol="0" anchor="ctr"/>
          <a:lstStyle/>
          <a:p>
            <a:pPr marL="0" indent="0" algn="ctr">
              <a:buNone/>
            </a:pPr>
            <a:r>
              <a:rPr lang="en-US" sz="2600" dirty="0">
                <a:solidFill>
                  <a:srgbClr val="000000"/>
                </a:solidFill>
              </a:rPr>
              <a:t>📊</a:t>
            </a:r>
            <a:endParaRPr lang="en-US" sz="2600" dirty="0"/>
          </a:p>
        </p:txBody>
      </p:sp>
      <p:sp>
        <p:nvSpPr>
          <p:cNvPr id="6" name="Text 4"/>
          <p:cNvSpPr/>
          <p:nvPr/>
        </p:nvSpPr>
        <p:spPr>
          <a:xfrm>
            <a:off x="365760" y="1920240"/>
            <a:ext cx="4114800" cy="320040"/>
          </a:xfrm>
          <a:prstGeom prst="rect">
            <a:avLst/>
          </a:prstGeom>
          <a:noFill/>
        </p:spPr>
        <p:txBody>
          <a:bodyPr wrap="square" rtlCol="0" anchor="ctr"/>
          <a:lstStyle/>
          <a:p>
            <a:pPr marL="0" indent="0" algn="ctr">
              <a:buNone/>
            </a:pPr>
            <a:r>
              <a:rPr lang="en-US" sz="1300" b="1" dirty="0">
                <a:solidFill>
                  <a:srgbClr val="0A9396"/>
                </a:solidFill>
              </a:rPr>
              <a:t>Chart 1</a:t>
            </a:r>
            <a:endParaRPr lang="en-US" sz="1300" dirty="0"/>
          </a:p>
        </p:txBody>
      </p:sp>
      <p:sp>
        <p:nvSpPr>
          <p:cNvPr id="7" name="Text 5"/>
          <p:cNvSpPr/>
          <p:nvPr/>
        </p:nvSpPr>
        <p:spPr>
          <a:xfrm>
            <a:off x="457200" y="4383493"/>
            <a:ext cx="4114800" cy="274320"/>
          </a:xfrm>
          <a:prstGeom prst="rect">
            <a:avLst/>
          </a:prstGeom>
          <a:noFill/>
        </p:spPr>
        <p:txBody>
          <a:bodyPr wrap="square" rtlCol="0" anchor="ctr"/>
          <a:lstStyle/>
          <a:p>
            <a:pPr marL="0" indent="0" algn="ctr">
              <a:buNone/>
            </a:pPr>
            <a:r>
              <a:rPr lang="en-US" sz="1050" i="1" dirty="0">
                <a:solidFill>
                  <a:srgbClr val="64748B"/>
                </a:solidFill>
              </a:rPr>
              <a:t>Top Industries by Breach Count</a:t>
            </a:r>
            <a:endParaRPr lang="en-US" sz="1050" dirty="0"/>
          </a:p>
        </p:txBody>
      </p:sp>
      <p:sp>
        <p:nvSpPr>
          <p:cNvPr id="8" name="Text 6"/>
          <p:cNvSpPr/>
          <p:nvPr/>
        </p:nvSpPr>
        <p:spPr>
          <a:xfrm>
            <a:off x="548640" y="4612093"/>
            <a:ext cx="4114800" cy="256032"/>
          </a:xfrm>
          <a:prstGeom prst="rect">
            <a:avLst/>
          </a:prstGeom>
          <a:noFill/>
        </p:spPr>
        <p:txBody>
          <a:bodyPr wrap="square" rtlCol="0" anchor="ctr"/>
          <a:lstStyle/>
          <a:p>
            <a:pPr marL="0" indent="0" algn="ctr">
              <a:buNone/>
            </a:pPr>
            <a:r>
              <a:rPr lang="en-US" sz="1000" dirty="0">
                <a:solidFill>
                  <a:srgbClr val="1E293B"/>
                </a:solidFill>
              </a:rPr>
              <a:t>web=49 · healthcare=46 · financial=36</a:t>
            </a:r>
            <a:endParaRPr lang="en-US" sz="1000" dirty="0"/>
          </a:p>
        </p:txBody>
      </p:sp>
      <p:sp>
        <p:nvSpPr>
          <p:cNvPr id="10" name="Shape 8"/>
          <p:cNvSpPr/>
          <p:nvPr/>
        </p:nvSpPr>
        <p:spPr>
          <a:xfrm>
            <a:off x="4663440" y="914400"/>
            <a:ext cx="4114800" cy="4046220"/>
          </a:xfrm>
          <a:prstGeom prst="rect">
            <a:avLst/>
          </a:prstGeom>
          <a:solidFill>
            <a:srgbClr val="E4EEF4"/>
          </a:solidFill>
          <a:ln w="12700">
            <a:solidFill>
              <a:srgbClr val="B0CCE0"/>
            </a:solidFill>
            <a:prstDash val="solid"/>
          </a:ln>
        </p:spPr>
      </p:sp>
      <p:sp>
        <p:nvSpPr>
          <p:cNvPr id="11" name="Text 9"/>
          <p:cNvSpPr/>
          <p:nvPr/>
        </p:nvSpPr>
        <p:spPr>
          <a:xfrm>
            <a:off x="4663440" y="1234440"/>
            <a:ext cx="4114800" cy="640080"/>
          </a:xfrm>
          <a:prstGeom prst="rect">
            <a:avLst/>
          </a:prstGeom>
          <a:noFill/>
        </p:spPr>
        <p:txBody>
          <a:bodyPr wrap="square" rtlCol="0" anchor="ctr"/>
          <a:lstStyle/>
          <a:p>
            <a:pPr marL="0" indent="0" algn="ctr">
              <a:buNone/>
            </a:pPr>
            <a:r>
              <a:rPr lang="en-US" sz="2600" dirty="0">
                <a:solidFill>
                  <a:srgbClr val="000000"/>
                </a:solidFill>
              </a:rPr>
              <a:t>📈</a:t>
            </a:r>
            <a:endParaRPr lang="en-US" sz="2600" dirty="0"/>
          </a:p>
        </p:txBody>
      </p:sp>
      <p:sp>
        <p:nvSpPr>
          <p:cNvPr id="12" name="Text 10"/>
          <p:cNvSpPr/>
          <p:nvPr/>
        </p:nvSpPr>
        <p:spPr>
          <a:xfrm>
            <a:off x="4663440" y="1920240"/>
            <a:ext cx="4114800" cy="320040"/>
          </a:xfrm>
          <a:prstGeom prst="rect">
            <a:avLst/>
          </a:prstGeom>
          <a:noFill/>
        </p:spPr>
        <p:txBody>
          <a:bodyPr wrap="square" rtlCol="0" anchor="ctr"/>
          <a:lstStyle/>
          <a:p>
            <a:pPr marL="0" indent="0" algn="ctr">
              <a:buNone/>
            </a:pPr>
            <a:r>
              <a:rPr lang="en-US" sz="1300" b="1" dirty="0">
                <a:solidFill>
                  <a:srgbClr val="0A9396"/>
                </a:solidFill>
              </a:rPr>
              <a:t>Chart 2</a:t>
            </a:r>
            <a:endParaRPr lang="en-US" sz="1300" dirty="0"/>
          </a:p>
        </p:txBody>
      </p:sp>
      <p:sp>
        <p:nvSpPr>
          <p:cNvPr id="13" name="Text 11"/>
          <p:cNvSpPr/>
          <p:nvPr/>
        </p:nvSpPr>
        <p:spPr>
          <a:xfrm>
            <a:off x="4663440" y="4278865"/>
            <a:ext cx="4114800" cy="274320"/>
          </a:xfrm>
          <a:prstGeom prst="rect">
            <a:avLst/>
          </a:prstGeom>
          <a:noFill/>
        </p:spPr>
        <p:txBody>
          <a:bodyPr wrap="square" rtlCol="0" anchor="ctr"/>
          <a:lstStyle/>
          <a:p>
            <a:pPr marL="0" indent="0" algn="ctr">
              <a:buNone/>
            </a:pPr>
            <a:r>
              <a:rPr lang="en-US" sz="1050" i="1" dirty="0">
                <a:solidFill>
                  <a:srgbClr val="64748B"/>
                </a:solidFill>
              </a:rPr>
              <a:t>Breach Count by Year (2004–2022)</a:t>
            </a:r>
            <a:endParaRPr lang="en-US" sz="1050" dirty="0"/>
          </a:p>
        </p:txBody>
      </p:sp>
      <p:sp>
        <p:nvSpPr>
          <p:cNvPr id="14" name="Text 12"/>
          <p:cNvSpPr/>
          <p:nvPr/>
        </p:nvSpPr>
        <p:spPr>
          <a:xfrm>
            <a:off x="4663440" y="4530325"/>
            <a:ext cx="4114800" cy="256032"/>
          </a:xfrm>
          <a:prstGeom prst="rect">
            <a:avLst/>
          </a:prstGeom>
          <a:noFill/>
        </p:spPr>
        <p:txBody>
          <a:bodyPr wrap="square" rtlCol="0" anchor="ctr"/>
          <a:lstStyle/>
          <a:p>
            <a:pPr marL="0" indent="0" algn="ctr">
              <a:buNone/>
            </a:pPr>
            <a:r>
              <a:rPr lang="en-US" sz="1000" dirty="0">
                <a:solidFill>
                  <a:srgbClr val="1E293B"/>
                </a:solidFill>
              </a:rPr>
              <a:t>Peak: 2011 with 33 breaches</a:t>
            </a:r>
            <a:endParaRPr lang="en-US" sz="1000" dirty="0"/>
          </a:p>
        </p:txBody>
      </p:sp>
      <p:pic>
        <p:nvPicPr>
          <p:cNvPr id="2050" name="Picture 2">
            <a:extLst>
              <a:ext uri="{FF2B5EF4-FFF2-40B4-BE49-F238E27FC236}">
                <a16:creationId xmlns:a16="http://schemas.microsoft.com/office/drawing/2014/main" id="{C4B91A3C-F9B5-FDB7-9AB4-95C70AF04C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336" y="1032935"/>
            <a:ext cx="3867008" cy="305466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3E0C964-9A6F-D22E-75B5-E9ED7C87A5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678" y="1032935"/>
            <a:ext cx="3262367" cy="31402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43FFC97-763C-0C55-5CD3-2979B9EE2D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2859" y="393895"/>
            <a:ext cx="3879807" cy="4355709"/>
          </a:xfrm>
          <a:prstGeom prst="rect">
            <a:avLst/>
          </a:prstGeom>
          <a:noFill/>
          <a:extLst>
            <a:ext uri="{909E8E84-426E-40DD-AFC4-6F175D3DCCD1}">
              <a14:hiddenFill xmlns:a14="http://schemas.microsoft.com/office/drawing/2010/main">
                <a:solidFill>
                  <a:srgbClr val="FFFFFF"/>
                </a:solidFill>
              </a14:hiddenFill>
            </a:ext>
          </a:extLst>
        </p:spPr>
      </p:pic>
      <p:sp>
        <p:nvSpPr>
          <p:cNvPr id="2" name="Text 0">
            <a:extLst>
              <a:ext uri="{FF2B5EF4-FFF2-40B4-BE49-F238E27FC236}">
                <a16:creationId xmlns:a16="http://schemas.microsoft.com/office/drawing/2014/main" id="{B6887B9A-B200-42CF-5ABE-77FD7BF93F35}"/>
              </a:ext>
            </a:extLst>
          </p:cNvPr>
          <p:cNvSpPr/>
          <p:nvPr/>
        </p:nvSpPr>
        <p:spPr>
          <a:xfrm>
            <a:off x="457200" y="182880"/>
            <a:ext cx="8229600" cy="502920"/>
          </a:xfrm>
          <a:prstGeom prst="rect">
            <a:avLst/>
          </a:prstGeom>
          <a:noFill/>
        </p:spPr>
        <p:txBody>
          <a:bodyPr wrap="square" rtlCol="0" anchor="ctr"/>
          <a:lstStyle/>
          <a:p>
            <a:pPr marL="0" indent="0">
              <a:buNone/>
            </a:pPr>
            <a:r>
              <a:rPr lang="en-US" sz="2800" b="1" dirty="0">
                <a:solidFill>
                  <a:srgbClr val="1E293B"/>
                </a:solidFill>
              </a:rPr>
              <a:t>Project Output — Charts</a:t>
            </a:r>
            <a:endParaRPr lang="en-US" sz="2800" dirty="0"/>
          </a:p>
        </p:txBody>
      </p:sp>
      <p:sp>
        <p:nvSpPr>
          <p:cNvPr id="3" name="Shape 14">
            <a:extLst>
              <a:ext uri="{FF2B5EF4-FFF2-40B4-BE49-F238E27FC236}">
                <a16:creationId xmlns:a16="http://schemas.microsoft.com/office/drawing/2014/main" id="{DB624B97-DAD3-FD60-A8EB-0B26E80CE422}"/>
              </a:ext>
            </a:extLst>
          </p:cNvPr>
          <p:cNvSpPr/>
          <p:nvPr/>
        </p:nvSpPr>
        <p:spPr>
          <a:xfrm>
            <a:off x="429768" y="896815"/>
            <a:ext cx="4493091" cy="658368"/>
          </a:xfrm>
          <a:prstGeom prst="rect">
            <a:avLst/>
          </a:prstGeom>
          <a:solidFill>
            <a:srgbClr val="FFFFFF"/>
          </a:solidFill>
          <a:ln w="12700">
            <a:solidFill>
              <a:srgbClr val="D1E8F0"/>
            </a:solidFill>
            <a:prstDash val="solid"/>
          </a:ln>
        </p:spPr>
      </p:sp>
      <p:sp>
        <p:nvSpPr>
          <p:cNvPr id="4" name="Shape 15">
            <a:extLst>
              <a:ext uri="{FF2B5EF4-FFF2-40B4-BE49-F238E27FC236}">
                <a16:creationId xmlns:a16="http://schemas.microsoft.com/office/drawing/2014/main" id="{3D86B2B6-939A-DC04-E0DE-DC0AFFE5EAB3}"/>
              </a:ext>
            </a:extLst>
          </p:cNvPr>
          <p:cNvSpPr/>
          <p:nvPr/>
        </p:nvSpPr>
        <p:spPr>
          <a:xfrm>
            <a:off x="429768" y="896815"/>
            <a:ext cx="45719" cy="658368"/>
          </a:xfrm>
          <a:prstGeom prst="rect">
            <a:avLst/>
          </a:prstGeom>
          <a:solidFill>
            <a:srgbClr val="0A9396"/>
          </a:solidFill>
          <a:ln w="12700">
            <a:solidFill>
              <a:srgbClr val="0A9396"/>
            </a:solidFill>
            <a:prstDash val="solid"/>
          </a:ln>
        </p:spPr>
      </p:sp>
      <p:sp>
        <p:nvSpPr>
          <p:cNvPr id="5" name="Text 16">
            <a:extLst>
              <a:ext uri="{FF2B5EF4-FFF2-40B4-BE49-F238E27FC236}">
                <a16:creationId xmlns:a16="http://schemas.microsoft.com/office/drawing/2014/main" id="{4C9C468F-5DCD-22CB-F3E8-A292CA1523E8}"/>
              </a:ext>
            </a:extLst>
          </p:cNvPr>
          <p:cNvSpPr/>
          <p:nvPr/>
        </p:nvSpPr>
        <p:spPr>
          <a:xfrm>
            <a:off x="594360" y="969967"/>
            <a:ext cx="1953518" cy="256032"/>
          </a:xfrm>
          <a:prstGeom prst="rect">
            <a:avLst/>
          </a:prstGeom>
          <a:noFill/>
        </p:spPr>
        <p:txBody>
          <a:bodyPr wrap="square" rtlCol="0" anchor="ctr"/>
          <a:lstStyle/>
          <a:p>
            <a:pPr marL="0" indent="0">
              <a:buNone/>
            </a:pPr>
            <a:r>
              <a:rPr lang="en-US" sz="1100" b="1" dirty="0">
                <a:solidFill>
                  <a:srgbClr val="1E293B"/>
                </a:solidFill>
              </a:rPr>
              <a:t>Chart 3 — Records Affected by Industry:</a:t>
            </a:r>
            <a:endParaRPr lang="en-US" sz="1100" dirty="0"/>
          </a:p>
        </p:txBody>
      </p:sp>
      <p:sp>
        <p:nvSpPr>
          <p:cNvPr id="6" name="Text 17">
            <a:extLst>
              <a:ext uri="{FF2B5EF4-FFF2-40B4-BE49-F238E27FC236}">
                <a16:creationId xmlns:a16="http://schemas.microsoft.com/office/drawing/2014/main" id="{9129BCC8-3ACD-DD2F-AFBD-3BE0D8B634B5}"/>
              </a:ext>
            </a:extLst>
          </p:cNvPr>
          <p:cNvSpPr/>
          <p:nvPr/>
        </p:nvSpPr>
        <p:spPr>
          <a:xfrm>
            <a:off x="594360" y="1225999"/>
            <a:ext cx="4297739" cy="237744"/>
          </a:xfrm>
          <a:prstGeom prst="rect">
            <a:avLst/>
          </a:prstGeom>
          <a:noFill/>
        </p:spPr>
        <p:txBody>
          <a:bodyPr wrap="square" rtlCol="0" anchor="ctr"/>
          <a:lstStyle/>
          <a:p>
            <a:pPr marL="0" indent="0">
              <a:buNone/>
            </a:pPr>
            <a:r>
              <a:rPr lang="en-US" sz="1000" dirty="0">
                <a:solidFill>
                  <a:srgbClr val="64748B"/>
                </a:solidFill>
              </a:rPr>
              <a:t>web: 5.2B  ·  social network: 1.2B  ·  tech: 1.0B  ·  financial: 818M</a:t>
            </a:r>
            <a:endParaRPr lang="en-US" sz="1000" dirty="0"/>
          </a:p>
        </p:txBody>
      </p:sp>
    </p:spTree>
    <p:extLst>
      <p:ext uri="{BB962C8B-B14F-4D97-AF65-F5344CB8AC3E}">
        <p14:creationId xmlns:p14="http://schemas.microsoft.com/office/powerpoint/2010/main" val="3696995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buNone/>
            </a:pPr>
            <a:r>
              <a:rPr lang="en-US" sz="2800" b="1" dirty="0">
                <a:solidFill>
                  <a:srgbClr val="1E293B"/>
                </a:solidFill>
              </a:rPr>
              <a:t>Analytical Questions &amp; Answers</a:t>
            </a:r>
            <a:endParaRPr lang="en-US" sz="2800" dirty="0"/>
          </a:p>
        </p:txBody>
      </p:sp>
      <p:sp>
        <p:nvSpPr>
          <p:cNvPr id="3" name="Shape 1"/>
          <p:cNvSpPr/>
          <p:nvPr/>
        </p:nvSpPr>
        <p:spPr>
          <a:xfrm>
            <a:off x="457200" y="704088"/>
            <a:ext cx="1828800" cy="45720"/>
          </a:xfrm>
          <a:prstGeom prst="rect">
            <a:avLst/>
          </a:prstGeom>
          <a:solidFill>
            <a:srgbClr val="0A9396"/>
          </a:solidFill>
          <a:ln w="12700">
            <a:solidFill>
              <a:srgbClr val="0A9396"/>
            </a:solidFill>
            <a:prstDash val="solid"/>
          </a:ln>
        </p:spPr>
      </p:sp>
      <p:sp>
        <p:nvSpPr>
          <p:cNvPr id="4" name="Shape 2"/>
          <p:cNvSpPr/>
          <p:nvPr/>
        </p:nvSpPr>
        <p:spPr>
          <a:xfrm>
            <a:off x="365760" y="960120"/>
            <a:ext cx="4160520" cy="1709928"/>
          </a:xfrm>
          <a:prstGeom prst="rect">
            <a:avLst/>
          </a:prstGeom>
          <a:solidFill>
            <a:srgbClr val="FFFFFF"/>
          </a:solidFill>
          <a:ln w="12700">
            <a:solidFill>
              <a:srgbClr val="D1E8F0"/>
            </a:solidFill>
            <a:prstDash val="solid"/>
          </a:ln>
          <a:effectLst>
            <a:outerShdw blurRad="76200" dist="25400" dir="8100000" algn="bl" rotWithShape="0">
              <a:srgbClr val="000000">
                <a:alpha val="9000"/>
              </a:srgbClr>
            </a:outerShdw>
          </a:effectLst>
        </p:spPr>
      </p:sp>
      <p:sp>
        <p:nvSpPr>
          <p:cNvPr id="5" name="Shape 3"/>
          <p:cNvSpPr/>
          <p:nvPr/>
        </p:nvSpPr>
        <p:spPr>
          <a:xfrm>
            <a:off x="365760" y="960120"/>
            <a:ext cx="4160520" cy="457200"/>
          </a:xfrm>
          <a:prstGeom prst="rect">
            <a:avLst/>
          </a:prstGeom>
          <a:solidFill>
            <a:srgbClr val="0D1B2A"/>
          </a:solidFill>
          <a:ln w="12700">
            <a:solidFill>
              <a:srgbClr val="0D1B2A"/>
            </a:solidFill>
            <a:prstDash val="solid"/>
          </a:ln>
        </p:spPr>
      </p:sp>
      <p:sp>
        <p:nvSpPr>
          <p:cNvPr id="6" name="Shape 4"/>
          <p:cNvSpPr/>
          <p:nvPr/>
        </p:nvSpPr>
        <p:spPr>
          <a:xfrm>
            <a:off x="3520440" y="1042416"/>
            <a:ext cx="868680" cy="274320"/>
          </a:xfrm>
          <a:prstGeom prst="rect">
            <a:avLst/>
          </a:prstGeom>
          <a:solidFill>
            <a:srgbClr val="0A9396"/>
          </a:solidFill>
          <a:ln w="12700">
            <a:solidFill>
              <a:srgbClr val="0A9396"/>
            </a:solidFill>
            <a:prstDash val="solid"/>
          </a:ln>
        </p:spPr>
      </p:sp>
      <p:sp>
        <p:nvSpPr>
          <p:cNvPr id="7" name="Text 5"/>
          <p:cNvSpPr/>
          <p:nvPr/>
        </p:nvSpPr>
        <p:spPr>
          <a:xfrm>
            <a:off x="3520440" y="1042416"/>
            <a:ext cx="868680" cy="274320"/>
          </a:xfrm>
          <a:prstGeom prst="rect">
            <a:avLst/>
          </a:prstGeom>
          <a:noFill/>
          <a:ln/>
        </p:spPr>
        <p:txBody>
          <a:bodyPr wrap="square" lIns="0" tIns="0" rIns="0" bIns="0" rtlCol="0" anchor="ctr"/>
          <a:lstStyle/>
          <a:p>
            <a:pPr marL="0" indent="0" algn="ctr">
              <a:buNone/>
            </a:pPr>
            <a:r>
              <a:rPr lang="en-US" sz="750" b="1" dirty="0">
                <a:solidFill>
                  <a:srgbClr val="FFFFFF"/>
                </a:solidFill>
              </a:rPr>
              <a:t>Breach Count</a:t>
            </a:r>
            <a:endParaRPr lang="en-US" sz="750" dirty="0"/>
          </a:p>
        </p:txBody>
      </p:sp>
      <p:sp>
        <p:nvSpPr>
          <p:cNvPr id="8" name="Text 6"/>
          <p:cNvSpPr/>
          <p:nvPr/>
        </p:nvSpPr>
        <p:spPr>
          <a:xfrm>
            <a:off x="493776" y="1014984"/>
            <a:ext cx="2926080" cy="365760"/>
          </a:xfrm>
          <a:prstGeom prst="rect">
            <a:avLst/>
          </a:prstGeom>
          <a:noFill/>
          <a:ln/>
        </p:spPr>
        <p:txBody>
          <a:bodyPr wrap="square" rtlCol="0" anchor="ctr"/>
          <a:lstStyle/>
          <a:p>
            <a:pPr marL="0" indent="0">
              <a:buNone/>
            </a:pPr>
            <a:r>
              <a:rPr lang="en-US" sz="1000" b="1" dirty="0">
                <a:solidFill>
                  <a:srgbClr val="CAF0F8"/>
                </a:solidFill>
              </a:rPr>
              <a:t>Q1. Which industry had the most data breaches?</a:t>
            </a:r>
            <a:endParaRPr lang="en-US" sz="1000" dirty="0"/>
          </a:p>
        </p:txBody>
      </p:sp>
      <p:sp>
        <p:nvSpPr>
          <p:cNvPr id="9" name="Text 7"/>
          <p:cNvSpPr/>
          <p:nvPr/>
        </p:nvSpPr>
        <p:spPr>
          <a:xfrm>
            <a:off x="493776" y="1490472"/>
            <a:ext cx="3886200" cy="1024128"/>
          </a:xfrm>
          <a:prstGeom prst="rect">
            <a:avLst/>
          </a:prstGeom>
          <a:noFill/>
          <a:ln/>
        </p:spPr>
        <p:txBody>
          <a:bodyPr wrap="square" rtlCol="0" anchor="ctr"/>
          <a:lstStyle/>
          <a:p>
            <a:pPr marL="0" indent="0">
              <a:buNone/>
            </a:pPr>
            <a:r>
              <a:rPr lang="en-US" sz="1050" dirty="0">
                <a:solidFill>
                  <a:srgbClr val="1E293B"/>
                </a:solidFill>
              </a:rPr>
              <a:t>Web industry — 49 breaches. It stores large amounts of user and business data, making it the top target for cyberattacks.</a:t>
            </a:r>
            <a:endParaRPr lang="en-US" sz="1050" dirty="0"/>
          </a:p>
        </p:txBody>
      </p:sp>
      <p:sp>
        <p:nvSpPr>
          <p:cNvPr id="10" name="Shape 8"/>
          <p:cNvSpPr/>
          <p:nvPr/>
        </p:nvSpPr>
        <p:spPr>
          <a:xfrm>
            <a:off x="4754880" y="960120"/>
            <a:ext cx="4160520" cy="1709928"/>
          </a:xfrm>
          <a:prstGeom prst="rect">
            <a:avLst/>
          </a:prstGeom>
          <a:solidFill>
            <a:srgbClr val="FFFFFF"/>
          </a:solidFill>
          <a:ln w="12700">
            <a:solidFill>
              <a:srgbClr val="D1E8F0"/>
            </a:solidFill>
            <a:prstDash val="solid"/>
          </a:ln>
          <a:effectLst>
            <a:outerShdw blurRad="76200" dist="25400" dir="8100000" algn="bl" rotWithShape="0">
              <a:srgbClr val="000000">
                <a:alpha val="9000"/>
              </a:srgbClr>
            </a:outerShdw>
          </a:effectLst>
        </p:spPr>
      </p:sp>
      <p:sp>
        <p:nvSpPr>
          <p:cNvPr id="11" name="Shape 9"/>
          <p:cNvSpPr/>
          <p:nvPr/>
        </p:nvSpPr>
        <p:spPr>
          <a:xfrm>
            <a:off x="4754880" y="960120"/>
            <a:ext cx="4160520" cy="457200"/>
          </a:xfrm>
          <a:prstGeom prst="rect">
            <a:avLst/>
          </a:prstGeom>
          <a:solidFill>
            <a:srgbClr val="0D1B2A"/>
          </a:solidFill>
          <a:ln w="12700">
            <a:solidFill>
              <a:srgbClr val="0D1B2A"/>
            </a:solidFill>
            <a:prstDash val="solid"/>
          </a:ln>
        </p:spPr>
      </p:sp>
      <p:sp>
        <p:nvSpPr>
          <p:cNvPr id="12" name="Shape 10"/>
          <p:cNvSpPr/>
          <p:nvPr/>
        </p:nvSpPr>
        <p:spPr>
          <a:xfrm>
            <a:off x="7909560" y="1042416"/>
            <a:ext cx="868680" cy="274320"/>
          </a:xfrm>
          <a:prstGeom prst="rect">
            <a:avLst/>
          </a:prstGeom>
          <a:solidFill>
            <a:srgbClr val="0A9396"/>
          </a:solidFill>
          <a:ln w="12700">
            <a:solidFill>
              <a:srgbClr val="0A9396"/>
            </a:solidFill>
            <a:prstDash val="solid"/>
          </a:ln>
        </p:spPr>
      </p:sp>
      <p:sp>
        <p:nvSpPr>
          <p:cNvPr id="13" name="Text 11"/>
          <p:cNvSpPr/>
          <p:nvPr/>
        </p:nvSpPr>
        <p:spPr>
          <a:xfrm>
            <a:off x="7909560" y="1042416"/>
            <a:ext cx="868680" cy="274320"/>
          </a:xfrm>
          <a:prstGeom prst="rect">
            <a:avLst/>
          </a:prstGeom>
          <a:noFill/>
          <a:ln/>
        </p:spPr>
        <p:txBody>
          <a:bodyPr wrap="square" lIns="0" tIns="0" rIns="0" bIns="0" rtlCol="0" anchor="ctr"/>
          <a:lstStyle/>
          <a:p>
            <a:pPr marL="0" indent="0" algn="ctr">
              <a:buNone/>
            </a:pPr>
            <a:r>
              <a:rPr lang="en-US" sz="750" b="1" dirty="0">
                <a:solidFill>
                  <a:srgbClr val="FFFFFF"/>
                </a:solidFill>
              </a:rPr>
              <a:t>Yearly Trend</a:t>
            </a:r>
            <a:endParaRPr lang="en-US" sz="750" dirty="0"/>
          </a:p>
        </p:txBody>
      </p:sp>
      <p:sp>
        <p:nvSpPr>
          <p:cNvPr id="14" name="Text 12"/>
          <p:cNvSpPr/>
          <p:nvPr/>
        </p:nvSpPr>
        <p:spPr>
          <a:xfrm>
            <a:off x="4882896" y="1014984"/>
            <a:ext cx="2926080" cy="365760"/>
          </a:xfrm>
          <a:prstGeom prst="rect">
            <a:avLst/>
          </a:prstGeom>
          <a:noFill/>
          <a:ln/>
        </p:spPr>
        <p:txBody>
          <a:bodyPr wrap="square" rtlCol="0" anchor="ctr"/>
          <a:lstStyle/>
          <a:p>
            <a:pPr marL="0" indent="0">
              <a:buNone/>
            </a:pPr>
            <a:r>
              <a:rPr lang="en-US" sz="1000" b="1" dirty="0">
                <a:solidFill>
                  <a:srgbClr val="CAF0F8"/>
                </a:solidFill>
              </a:rPr>
              <a:t>Q2. Which year recorded the highest breach count?</a:t>
            </a:r>
            <a:endParaRPr lang="en-US" sz="1000" dirty="0"/>
          </a:p>
        </p:txBody>
      </p:sp>
      <p:sp>
        <p:nvSpPr>
          <p:cNvPr id="15" name="Text 13"/>
          <p:cNvSpPr/>
          <p:nvPr/>
        </p:nvSpPr>
        <p:spPr>
          <a:xfrm>
            <a:off x="4882896" y="1490472"/>
            <a:ext cx="3886200" cy="1024128"/>
          </a:xfrm>
          <a:prstGeom prst="rect">
            <a:avLst/>
          </a:prstGeom>
          <a:noFill/>
          <a:ln/>
        </p:spPr>
        <p:txBody>
          <a:bodyPr wrap="square" rtlCol="0" anchor="ctr"/>
          <a:lstStyle/>
          <a:p>
            <a:pPr marL="0" indent="0">
              <a:buNone/>
            </a:pPr>
            <a:r>
              <a:rPr lang="en-US" sz="1050" dirty="0">
                <a:solidFill>
                  <a:srgbClr val="1E293B"/>
                </a:solidFill>
              </a:rPr>
              <a:t>2011 — with 33 breaches. This spike is linked to greater digital adoption and more sophisticated cyber threats that year.</a:t>
            </a:r>
            <a:endParaRPr lang="en-US" sz="1050" dirty="0"/>
          </a:p>
        </p:txBody>
      </p:sp>
      <p:sp>
        <p:nvSpPr>
          <p:cNvPr id="16" name="Shape 14"/>
          <p:cNvSpPr/>
          <p:nvPr/>
        </p:nvSpPr>
        <p:spPr>
          <a:xfrm>
            <a:off x="365760" y="2880360"/>
            <a:ext cx="4160520" cy="1709928"/>
          </a:xfrm>
          <a:prstGeom prst="rect">
            <a:avLst/>
          </a:prstGeom>
          <a:solidFill>
            <a:srgbClr val="FFFFFF"/>
          </a:solidFill>
          <a:ln w="12700">
            <a:solidFill>
              <a:srgbClr val="D1E8F0"/>
            </a:solidFill>
            <a:prstDash val="solid"/>
          </a:ln>
          <a:effectLst>
            <a:outerShdw blurRad="76200" dist="25400" dir="8100000" algn="bl" rotWithShape="0">
              <a:srgbClr val="000000">
                <a:alpha val="9000"/>
              </a:srgbClr>
            </a:outerShdw>
          </a:effectLst>
        </p:spPr>
      </p:sp>
      <p:sp>
        <p:nvSpPr>
          <p:cNvPr id="17" name="Shape 15"/>
          <p:cNvSpPr/>
          <p:nvPr/>
        </p:nvSpPr>
        <p:spPr>
          <a:xfrm>
            <a:off x="365760" y="2880360"/>
            <a:ext cx="4160520" cy="457200"/>
          </a:xfrm>
          <a:prstGeom prst="rect">
            <a:avLst/>
          </a:prstGeom>
          <a:solidFill>
            <a:srgbClr val="0D1B2A"/>
          </a:solidFill>
          <a:ln w="12700">
            <a:solidFill>
              <a:srgbClr val="0D1B2A"/>
            </a:solidFill>
            <a:prstDash val="solid"/>
          </a:ln>
        </p:spPr>
      </p:sp>
      <p:sp>
        <p:nvSpPr>
          <p:cNvPr id="18" name="Shape 16"/>
          <p:cNvSpPr/>
          <p:nvPr/>
        </p:nvSpPr>
        <p:spPr>
          <a:xfrm>
            <a:off x="3520440" y="2962656"/>
            <a:ext cx="868680" cy="274320"/>
          </a:xfrm>
          <a:prstGeom prst="rect">
            <a:avLst/>
          </a:prstGeom>
          <a:solidFill>
            <a:srgbClr val="0A9396"/>
          </a:solidFill>
          <a:ln w="12700">
            <a:solidFill>
              <a:srgbClr val="0A9396"/>
            </a:solidFill>
            <a:prstDash val="solid"/>
          </a:ln>
        </p:spPr>
      </p:sp>
      <p:sp>
        <p:nvSpPr>
          <p:cNvPr id="19" name="Text 17"/>
          <p:cNvSpPr/>
          <p:nvPr/>
        </p:nvSpPr>
        <p:spPr>
          <a:xfrm>
            <a:off x="3520440" y="2962656"/>
            <a:ext cx="868680" cy="274320"/>
          </a:xfrm>
          <a:prstGeom prst="rect">
            <a:avLst/>
          </a:prstGeom>
          <a:noFill/>
          <a:ln/>
        </p:spPr>
        <p:txBody>
          <a:bodyPr wrap="square" lIns="0" tIns="0" rIns="0" bIns="0" rtlCol="0" anchor="ctr"/>
          <a:lstStyle/>
          <a:p>
            <a:pPr marL="0" indent="0" algn="ctr">
              <a:buNone/>
            </a:pPr>
            <a:r>
              <a:rPr lang="en-US" sz="750" b="1" dirty="0">
                <a:solidFill>
                  <a:srgbClr val="FFFFFF"/>
                </a:solidFill>
              </a:rPr>
              <a:t>Records Exposed</a:t>
            </a:r>
            <a:endParaRPr lang="en-US" sz="750" dirty="0"/>
          </a:p>
        </p:txBody>
      </p:sp>
      <p:sp>
        <p:nvSpPr>
          <p:cNvPr id="20" name="Text 18"/>
          <p:cNvSpPr/>
          <p:nvPr/>
        </p:nvSpPr>
        <p:spPr>
          <a:xfrm>
            <a:off x="493776" y="2935224"/>
            <a:ext cx="2926080" cy="365760"/>
          </a:xfrm>
          <a:prstGeom prst="rect">
            <a:avLst/>
          </a:prstGeom>
          <a:noFill/>
          <a:ln/>
        </p:spPr>
        <p:txBody>
          <a:bodyPr wrap="square" rtlCol="0" anchor="ctr"/>
          <a:lstStyle/>
          <a:p>
            <a:pPr marL="0" indent="0">
              <a:buNone/>
            </a:pPr>
            <a:r>
              <a:rPr lang="en-US" sz="1000" b="1" dirty="0">
                <a:solidFill>
                  <a:srgbClr val="CAF0F8"/>
                </a:solidFill>
              </a:rPr>
              <a:t>Q3. Which industry had the most records exposed?</a:t>
            </a:r>
            <a:endParaRPr lang="en-US" sz="1000" dirty="0"/>
          </a:p>
        </p:txBody>
      </p:sp>
      <p:sp>
        <p:nvSpPr>
          <p:cNvPr id="21" name="Text 19"/>
          <p:cNvSpPr/>
          <p:nvPr/>
        </p:nvSpPr>
        <p:spPr>
          <a:xfrm>
            <a:off x="493776" y="3410712"/>
            <a:ext cx="3886200" cy="1024128"/>
          </a:xfrm>
          <a:prstGeom prst="rect">
            <a:avLst/>
          </a:prstGeom>
          <a:noFill/>
          <a:ln/>
        </p:spPr>
        <p:txBody>
          <a:bodyPr wrap="square" rtlCol="0" anchor="ctr"/>
          <a:lstStyle/>
          <a:p>
            <a:pPr marL="0" indent="0">
              <a:buNone/>
            </a:pPr>
            <a:r>
              <a:rPr lang="en-US" sz="1050" dirty="0">
                <a:solidFill>
                  <a:srgbClr val="1E293B"/>
                </a:solidFill>
              </a:rPr>
              <a:t>Web industry — over 5.2 billion records (5.203696e+09). A single large breach can expose more records than many smaller breaches combined.</a:t>
            </a:r>
            <a:endParaRPr lang="en-US" sz="1050" dirty="0"/>
          </a:p>
        </p:txBody>
      </p:sp>
      <p:sp>
        <p:nvSpPr>
          <p:cNvPr id="22" name="Shape 20"/>
          <p:cNvSpPr/>
          <p:nvPr/>
        </p:nvSpPr>
        <p:spPr>
          <a:xfrm>
            <a:off x="4754880" y="2880360"/>
            <a:ext cx="4160520" cy="1709928"/>
          </a:xfrm>
          <a:prstGeom prst="rect">
            <a:avLst/>
          </a:prstGeom>
          <a:solidFill>
            <a:srgbClr val="FFFFFF"/>
          </a:solidFill>
          <a:ln w="12700">
            <a:solidFill>
              <a:srgbClr val="D1E8F0"/>
            </a:solidFill>
            <a:prstDash val="solid"/>
          </a:ln>
          <a:effectLst>
            <a:outerShdw blurRad="76200" dist="25400" dir="8100000" algn="bl" rotWithShape="0">
              <a:srgbClr val="000000">
                <a:alpha val="9000"/>
              </a:srgbClr>
            </a:outerShdw>
          </a:effectLst>
        </p:spPr>
      </p:sp>
      <p:sp>
        <p:nvSpPr>
          <p:cNvPr id="23" name="Shape 21"/>
          <p:cNvSpPr/>
          <p:nvPr/>
        </p:nvSpPr>
        <p:spPr>
          <a:xfrm>
            <a:off x="4754880" y="2880360"/>
            <a:ext cx="4160520" cy="457200"/>
          </a:xfrm>
          <a:prstGeom prst="rect">
            <a:avLst/>
          </a:prstGeom>
          <a:solidFill>
            <a:srgbClr val="0D1B2A"/>
          </a:solidFill>
          <a:ln w="12700">
            <a:solidFill>
              <a:srgbClr val="0D1B2A"/>
            </a:solidFill>
            <a:prstDash val="solid"/>
          </a:ln>
        </p:spPr>
      </p:sp>
      <p:sp>
        <p:nvSpPr>
          <p:cNvPr id="24" name="Shape 22"/>
          <p:cNvSpPr/>
          <p:nvPr/>
        </p:nvSpPr>
        <p:spPr>
          <a:xfrm>
            <a:off x="7909560" y="2962656"/>
            <a:ext cx="868680" cy="274320"/>
          </a:xfrm>
          <a:prstGeom prst="rect">
            <a:avLst/>
          </a:prstGeom>
          <a:solidFill>
            <a:srgbClr val="0A9396"/>
          </a:solidFill>
          <a:ln w="12700">
            <a:solidFill>
              <a:srgbClr val="0A9396"/>
            </a:solidFill>
            <a:prstDash val="solid"/>
          </a:ln>
        </p:spPr>
      </p:sp>
      <p:sp>
        <p:nvSpPr>
          <p:cNvPr id="25" name="Text 23"/>
          <p:cNvSpPr/>
          <p:nvPr/>
        </p:nvSpPr>
        <p:spPr>
          <a:xfrm>
            <a:off x="7909560" y="2962656"/>
            <a:ext cx="868680" cy="274320"/>
          </a:xfrm>
          <a:prstGeom prst="rect">
            <a:avLst/>
          </a:prstGeom>
          <a:noFill/>
          <a:ln/>
        </p:spPr>
        <p:txBody>
          <a:bodyPr wrap="square" lIns="0" tIns="0" rIns="0" bIns="0" rtlCol="0" anchor="ctr"/>
          <a:lstStyle/>
          <a:p>
            <a:pPr marL="0" indent="0" algn="ctr">
              <a:buNone/>
            </a:pPr>
            <a:r>
              <a:rPr lang="en-US" sz="750" b="1" dirty="0">
                <a:solidFill>
                  <a:srgbClr val="FFFFFF"/>
                </a:solidFill>
              </a:rPr>
              <a:t>Total Impact</a:t>
            </a:r>
            <a:endParaRPr lang="en-US" sz="750" dirty="0"/>
          </a:p>
        </p:txBody>
      </p:sp>
      <p:sp>
        <p:nvSpPr>
          <p:cNvPr id="26" name="Text 24"/>
          <p:cNvSpPr/>
          <p:nvPr/>
        </p:nvSpPr>
        <p:spPr>
          <a:xfrm>
            <a:off x="4882896" y="2935224"/>
            <a:ext cx="2926080" cy="365760"/>
          </a:xfrm>
          <a:prstGeom prst="rect">
            <a:avLst/>
          </a:prstGeom>
          <a:noFill/>
          <a:ln/>
        </p:spPr>
        <p:txBody>
          <a:bodyPr wrap="square" rtlCol="0" anchor="ctr"/>
          <a:lstStyle/>
          <a:p>
            <a:pPr marL="0" indent="0">
              <a:buNone/>
            </a:pPr>
            <a:r>
              <a:rPr lang="en-US" sz="1000" b="1" dirty="0">
                <a:solidFill>
                  <a:srgbClr val="CAF0F8"/>
                </a:solidFill>
              </a:rPr>
              <a:t>Q4. How many total records were exposed overall?</a:t>
            </a:r>
            <a:endParaRPr lang="en-US" sz="1000" dirty="0"/>
          </a:p>
        </p:txBody>
      </p:sp>
      <p:sp>
        <p:nvSpPr>
          <p:cNvPr id="27" name="Text 25"/>
          <p:cNvSpPr/>
          <p:nvPr/>
        </p:nvSpPr>
        <p:spPr>
          <a:xfrm>
            <a:off x="4882896" y="3410712"/>
            <a:ext cx="3886200" cy="1024128"/>
          </a:xfrm>
          <a:prstGeom prst="rect">
            <a:avLst/>
          </a:prstGeom>
          <a:noFill/>
          <a:ln/>
        </p:spPr>
        <p:txBody>
          <a:bodyPr wrap="square" rtlCol="0" anchor="ctr"/>
          <a:lstStyle/>
          <a:p>
            <a:pPr marL="0" indent="0">
              <a:buNone/>
            </a:pPr>
            <a:r>
              <a:rPr lang="en-US" sz="1050" dirty="0">
                <a:solidFill>
                  <a:srgbClr val="1E293B"/>
                </a:solidFill>
              </a:rPr>
              <a:t>13,357,968,650 records (13.3 billion) across all 304 reported breaches — highlighting the massive scale of cybersecurity risk.</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9396"/>
          </a:solidFill>
          <a:ln w="12700">
            <a:solidFill>
              <a:srgbClr val="0A9396"/>
            </a:solidFill>
            <a:prstDash val="solid"/>
          </a:ln>
        </p:spPr>
      </p:sp>
      <p:sp>
        <p:nvSpPr>
          <p:cNvPr id="3" name="Text 1"/>
          <p:cNvSpPr/>
          <p:nvPr/>
        </p:nvSpPr>
        <p:spPr>
          <a:xfrm>
            <a:off x="411480" y="320040"/>
            <a:ext cx="8229600" cy="594360"/>
          </a:xfrm>
          <a:prstGeom prst="rect">
            <a:avLst/>
          </a:prstGeom>
          <a:noFill/>
          <a:ln/>
        </p:spPr>
        <p:txBody>
          <a:bodyPr wrap="square" rtlCol="0" anchor="ctr"/>
          <a:lstStyle/>
          <a:p>
            <a:pPr marL="0" indent="0">
              <a:buNone/>
            </a:pPr>
            <a:r>
              <a:rPr lang="en-US" sz="3400" b="1" dirty="0">
                <a:solidFill>
                  <a:srgbClr val="FFFFFF"/>
                </a:solidFill>
              </a:rPr>
              <a:t>Conclusion</a:t>
            </a:r>
            <a:endParaRPr lang="en-US" sz="3400" dirty="0"/>
          </a:p>
        </p:txBody>
      </p:sp>
      <p:sp>
        <p:nvSpPr>
          <p:cNvPr id="4" name="Shape 2"/>
          <p:cNvSpPr/>
          <p:nvPr/>
        </p:nvSpPr>
        <p:spPr>
          <a:xfrm>
            <a:off x="411480" y="969264"/>
            <a:ext cx="4572000" cy="36576"/>
          </a:xfrm>
          <a:prstGeom prst="rect">
            <a:avLst/>
          </a:prstGeom>
          <a:solidFill>
            <a:srgbClr val="0A9396"/>
          </a:solidFill>
          <a:ln w="12700">
            <a:solidFill>
              <a:srgbClr val="0A9396"/>
            </a:solidFill>
            <a:prstDash val="solid"/>
          </a:ln>
        </p:spPr>
      </p:sp>
      <p:sp>
        <p:nvSpPr>
          <p:cNvPr id="5" name="Text 3"/>
          <p:cNvSpPr/>
          <p:nvPr/>
        </p:nvSpPr>
        <p:spPr>
          <a:xfrm>
            <a:off x="411480" y="1170432"/>
            <a:ext cx="8321040" cy="411480"/>
          </a:xfrm>
          <a:prstGeom prst="rect">
            <a:avLst/>
          </a:prstGeom>
          <a:noFill/>
          <a:ln/>
        </p:spPr>
        <p:txBody>
          <a:bodyPr wrap="square" rtlCol="0" anchor="ctr"/>
          <a:lstStyle/>
          <a:p>
            <a:pPr marL="0" indent="0">
              <a:buNone/>
            </a:pPr>
            <a:r>
              <a:rPr lang="en-US" sz="1150" b="1" dirty="0">
                <a:solidFill>
                  <a:srgbClr val="0A9396"/>
                </a:solidFill>
              </a:rPr>
              <a:t>✓  </a:t>
            </a:r>
            <a:r>
              <a:rPr lang="en-US" sz="1150" dirty="0">
                <a:solidFill>
                  <a:srgbClr val="CAF0F8"/>
                </a:solidFill>
              </a:rPr>
              <a:t>Loaded df_1.csv (352 rows) — checked &amp; fixed nulls, types, duplicates → 304 clean rows</a:t>
            </a:r>
            <a:endParaRPr lang="en-US" sz="1150" dirty="0"/>
          </a:p>
        </p:txBody>
      </p:sp>
      <p:sp>
        <p:nvSpPr>
          <p:cNvPr id="6" name="Text 4"/>
          <p:cNvSpPr/>
          <p:nvPr/>
        </p:nvSpPr>
        <p:spPr>
          <a:xfrm>
            <a:off x="411480" y="1645920"/>
            <a:ext cx="8321040" cy="411480"/>
          </a:xfrm>
          <a:prstGeom prst="rect">
            <a:avLst/>
          </a:prstGeom>
          <a:noFill/>
          <a:ln/>
        </p:spPr>
        <p:txBody>
          <a:bodyPr wrap="square" rtlCol="0" anchor="ctr"/>
          <a:lstStyle/>
          <a:p>
            <a:pPr marL="0" indent="0">
              <a:buNone/>
            </a:pPr>
            <a:r>
              <a:rPr lang="en-US" sz="1150" b="1" dirty="0">
                <a:solidFill>
                  <a:srgbClr val="0A9396"/>
                </a:solidFill>
              </a:rPr>
              <a:t>✓  </a:t>
            </a:r>
            <a:r>
              <a:rPr lang="en-US" sz="1150" dirty="0">
                <a:solidFill>
                  <a:srgbClr val="CAF0F8"/>
                </a:solidFill>
              </a:rPr>
              <a:t>Performed EDA: 61 unique industries identified, top sector is Web (49 breaches)</a:t>
            </a:r>
            <a:endParaRPr lang="en-US" sz="1150" dirty="0"/>
          </a:p>
        </p:txBody>
      </p:sp>
      <p:sp>
        <p:nvSpPr>
          <p:cNvPr id="7" name="Text 5"/>
          <p:cNvSpPr/>
          <p:nvPr/>
        </p:nvSpPr>
        <p:spPr>
          <a:xfrm>
            <a:off x="411480" y="2121408"/>
            <a:ext cx="8321040" cy="411480"/>
          </a:xfrm>
          <a:prstGeom prst="rect">
            <a:avLst/>
          </a:prstGeom>
          <a:noFill/>
          <a:ln/>
        </p:spPr>
        <p:txBody>
          <a:bodyPr wrap="square" rtlCol="0" anchor="ctr"/>
          <a:lstStyle/>
          <a:p>
            <a:pPr marL="0" indent="0">
              <a:buNone/>
            </a:pPr>
            <a:r>
              <a:rPr lang="en-US" sz="1150" b="1" dirty="0">
                <a:solidFill>
                  <a:srgbClr val="0A9396"/>
                </a:solidFill>
              </a:rPr>
              <a:t>✓  </a:t>
            </a:r>
            <a:r>
              <a:rPr lang="en-US" sz="1150" dirty="0">
                <a:solidFill>
                  <a:srgbClr val="CAF0F8"/>
                </a:solidFill>
              </a:rPr>
              <a:t>Yearly trend shows 2011 as the peak year with 33 breach incidents</a:t>
            </a:r>
            <a:endParaRPr lang="en-US" sz="1150" dirty="0"/>
          </a:p>
        </p:txBody>
      </p:sp>
      <p:sp>
        <p:nvSpPr>
          <p:cNvPr id="8" name="Text 6"/>
          <p:cNvSpPr/>
          <p:nvPr/>
        </p:nvSpPr>
        <p:spPr>
          <a:xfrm>
            <a:off x="411480" y="2596896"/>
            <a:ext cx="8321040" cy="411480"/>
          </a:xfrm>
          <a:prstGeom prst="rect">
            <a:avLst/>
          </a:prstGeom>
          <a:noFill/>
          <a:ln/>
        </p:spPr>
        <p:txBody>
          <a:bodyPr wrap="square" rtlCol="0" anchor="ctr"/>
          <a:lstStyle/>
          <a:p>
            <a:pPr marL="0" indent="0">
              <a:buNone/>
            </a:pPr>
            <a:r>
              <a:rPr lang="en-US" sz="1150" b="1" dirty="0">
                <a:solidFill>
                  <a:srgbClr val="0A9396"/>
                </a:solidFill>
              </a:rPr>
              <a:t>✓  </a:t>
            </a:r>
            <a:r>
              <a:rPr lang="en-US" sz="1150" dirty="0">
                <a:solidFill>
                  <a:srgbClr val="CAF0F8"/>
                </a:solidFill>
              </a:rPr>
              <a:t>Total 13.3 billion records exposed — showing the massive scale of cybersecurity risk</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652</Words>
  <Application>Microsoft Office PowerPoint</Application>
  <PresentationFormat>On-screen Show (16:9)</PresentationFormat>
  <Paragraphs>112</Paragraphs>
  <Slides>9</Slides>
  <Notes>7</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Breach Analysis by Industry</dc:title>
  <dc:subject>PptxGenJS Presentation</dc:subject>
  <dc:creator>PptxGenJS</dc:creator>
  <cp:lastModifiedBy>Sunita Motghare</cp:lastModifiedBy>
  <cp:revision>6</cp:revision>
  <dcterms:created xsi:type="dcterms:W3CDTF">2026-06-06T17:49:46Z</dcterms:created>
  <dcterms:modified xsi:type="dcterms:W3CDTF">2026-06-09T12:13:10Z</dcterms:modified>
</cp:coreProperties>
</file>